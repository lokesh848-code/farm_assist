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5F2D"/>
        </a:solidFill>
      </p:bgPr>
    </p:bg>
    <p:spTree>
      <p:nvGrpSpPr>
        <p:cNvPr id="1" name=""/>
        <p:cNvGrpSpPr/>
        <p:nvPr/>
      </p:nvGrpSpPr>
      <p:grpSpPr>
        <a:xfrm>
          <a:off x="0" y="0"/>
          <a:ext cx="0" cy="0"/>
          <a:chOff x="0" y="0"/>
          <a:chExt cx="0" cy="0"/>
        </a:xfrm>
      </p:grpSpPr>
      <p:sp>
        <p:nvSpPr>
          <p:cNvPr id="2" name="Shape 0"/>
          <p:cNvSpPr/>
          <p:nvPr/>
        </p:nvSpPr>
        <p:spPr>
          <a:xfrm>
            <a:off x="822960" y="2331720"/>
            <a:ext cx="1188720" cy="1188720"/>
          </a:xfrm>
          <a:prstGeom prst="roundRect">
            <a:avLst>
              <a:gd name="adj" fmla="val 50000"/>
            </a:avLst>
          </a:prstGeom>
          <a:solidFill>
            <a:srgbClr val="97BC62"/>
          </a:solidFill>
          <a:ln/>
        </p:spPr>
      </p:sp>
      <p:sp>
        <p:nvSpPr>
          <p:cNvPr id="3" name="Text 1"/>
          <p:cNvSpPr/>
          <p:nvPr/>
        </p:nvSpPr>
        <p:spPr>
          <a:xfrm>
            <a:off x="822960" y="2331720"/>
            <a:ext cx="1188720" cy="1188720"/>
          </a:xfrm>
          <a:prstGeom prst="rect">
            <a:avLst/>
          </a:prstGeom>
          <a:noFill/>
          <a:ln/>
        </p:spPr>
        <p:txBody>
          <a:bodyPr wrap="square" rtlCol="0" anchor="ctr"/>
          <a:lstStyle/>
          <a:p>
            <a:pPr algn="ctr" indent="0" marL="0">
              <a:buNone/>
            </a:pPr>
            <a:r>
              <a:rPr lang="en-US" sz="3200" b="1" dirty="0">
                <a:solidFill>
                  <a:srgbClr val="2C5F2D"/>
                </a:solidFill>
                <a:latin typeface="Cambria" pitchFamily="34" charset="0"/>
                <a:ea typeface="Cambria" pitchFamily="34" charset="-122"/>
                <a:cs typeface="Cambria" pitchFamily="34" charset="-120"/>
              </a:rPr>
              <a:t>FA</a:t>
            </a:r>
            <a:endParaRPr lang="en-US" sz="3200" dirty="0"/>
          </a:p>
        </p:txBody>
      </p:sp>
      <p:sp>
        <p:nvSpPr>
          <p:cNvPr id="4" name="Text 2"/>
          <p:cNvSpPr/>
          <p:nvPr/>
        </p:nvSpPr>
        <p:spPr>
          <a:xfrm>
            <a:off x="2286000" y="2148840"/>
            <a:ext cx="9144000" cy="82296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Farmer Assist</a:t>
            </a:r>
            <a:endParaRPr lang="en-US" sz="4400" dirty="0"/>
          </a:p>
        </p:txBody>
      </p:sp>
      <p:sp>
        <p:nvSpPr>
          <p:cNvPr id="5" name="Text 3"/>
          <p:cNvSpPr/>
          <p:nvPr/>
        </p:nvSpPr>
        <p:spPr>
          <a:xfrm>
            <a:off x="2286000" y="2880360"/>
            <a:ext cx="9144000" cy="548640"/>
          </a:xfrm>
          <a:prstGeom prst="rect">
            <a:avLst/>
          </a:prstGeom>
          <a:noFill/>
          <a:ln/>
        </p:spPr>
        <p:txBody>
          <a:bodyPr wrap="square" rtlCol="0" anchor="ctr"/>
          <a:lstStyle/>
          <a:p>
            <a:pPr indent="0" marL="0">
              <a:buNone/>
            </a:pPr>
            <a:r>
              <a:rPr lang="en-US" sz="2000" i="1" dirty="0">
                <a:solidFill>
                  <a:srgbClr val="97BC62"/>
                </a:solidFill>
                <a:latin typeface="Calibri" pitchFamily="34" charset="0"/>
                <a:ea typeface="Calibri" pitchFamily="34" charset="-122"/>
                <a:cs typeface="Calibri" pitchFamily="34" charset="-120"/>
              </a:rPr>
              <a:t>RAG-Powered Smart Farming Advisory AI Agent</a:t>
            </a:r>
            <a:endParaRPr lang="en-US" sz="2000" dirty="0"/>
          </a:p>
        </p:txBody>
      </p:sp>
      <p:sp>
        <p:nvSpPr>
          <p:cNvPr id="6" name="Text 4"/>
          <p:cNvSpPr/>
          <p:nvPr/>
        </p:nvSpPr>
        <p:spPr>
          <a:xfrm>
            <a:off x="2286000" y="3429000"/>
            <a:ext cx="9144000" cy="457200"/>
          </a:xfrm>
          <a:prstGeom prst="rect">
            <a:avLst/>
          </a:prstGeom>
          <a:noFill/>
          <a:ln/>
        </p:spPr>
        <p:txBody>
          <a:bodyPr wrap="square" rtlCol="0" anchor="ctr"/>
          <a:lstStyle/>
          <a:p>
            <a:pPr indent="0" marL="0">
              <a:buNone/>
            </a:pPr>
            <a:r>
              <a:rPr lang="en-US" sz="1400" dirty="0">
                <a:solidFill>
                  <a:srgbClr val="F5F5F5"/>
                </a:solidFill>
                <a:latin typeface="Calibri" pitchFamily="34" charset="0"/>
                <a:ea typeface="Calibri" pitchFamily="34" charset="-122"/>
                <a:cs typeface="Calibri" pitchFamily="34" charset="-120"/>
              </a:rPr>
              <a:t>IBM University Engagement Project Submission</a:t>
            </a:r>
            <a:endParaRPr lang="en-US" sz="1400" dirty="0"/>
          </a:p>
        </p:txBody>
      </p:sp>
      <p:sp>
        <p:nvSpPr>
          <p:cNvPr id="7" name="Text 5"/>
          <p:cNvSpPr/>
          <p:nvPr/>
        </p:nvSpPr>
        <p:spPr>
          <a:xfrm>
            <a:off x="822960" y="6035040"/>
            <a:ext cx="10515600" cy="365760"/>
          </a:xfrm>
          <a:prstGeom prst="rect">
            <a:avLst/>
          </a:prstGeom>
          <a:noFill/>
          <a:ln/>
        </p:spPr>
        <p:txBody>
          <a:bodyPr wrap="square" rtlCol="0" anchor="ctr"/>
          <a:lstStyle/>
          <a:p>
            <a:pPr indent="0" marL="0">
              <a:buNone/>
            </a:pPr>
            <a:r>
              <a:rPr lang="en-US" sz="1200" dirty="0">
                <a:solidFill>
                  <a:srgbClr val="97BC62"/>
                </a:solidFill>
                <a:latin typeface="Calibri" pitchFamily="34" charset="0"/>
                <a:ea typeface="Calibri" pitchFamily="34" charset="-122"/>
                <a:cs typeface="Calibri" pitchFamily="34" charset="-120"/>
              </a:rPr>
              <a:t>Built with IBM watsonx.ai  •  IBM Granite  •  LangFlow  •  RAG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65760"/>
          </a:xfrm>
          <a:prstGeom prst="rect">
            <a:avLst/>
          </a:prstGeom>
          <a:noFill/>
          <a:ln/>
        </p:spPr>
        <p:txBody>
          <a:bodyPr wrap="square" rtlCol="0" anchor="ctr"/>
          <a:lstStyle/>
          <a:p>
            <a:pPr indent="0" marL="0">
              <a:buNone/>
            </a:pPr>
            <a:r>
              <a:rPr lang="en-US" sz="1300" b="1" spc="200" kern="0" dirty="0">
                <a:solidFill>
                  <a:srgbClr val="97BC62"/>
                </a:solidFill>
                <a:latin typeface="Calibri" pitchFamily="34" charset="0"/>
                <a:ea typeface="Calibri" pitchFamily="34" charset="-122"/>
                <a:cs typeface="Calibri" pitchFamily="34" charset="-120"/>
              </a:rPr>
              <a:t>01  —  THE CHALLENGE</a:t>
            </a:r>
            <a:endParaRPr lang="en-US" sz="1300" dirty="0"/>
          </a:p>
        </p:txBody>
      </p:sp>
      <p:sp>
        <p:nvSpPr>
          <p:cNvPr id="3" name="Text 1"/>
          <p:cNvSpPr/>
          <p:nvPr/>
        </p:nvSpPr>
        <p:spPr>
          <a:xfrm>
            <a:off x="548640" y="640080"/>
            <a:ext cx="11064240" cy="822960"/>
          </a:xfrm>
          <a:prstGeom prst="rect">
            <a:avLst/>
          </a:prstGeom>
          <a:noFill/>
          <a:ln/>
        </p:spPr>
        <p:txBody>
          <a:bodyPr wrap="square" rtlCol="0" anchor="ctr"/>
          <a:lstStyle/>
          <a:p>
            <a:pPr indent="0" marL="0">
              <a:buNone/>
            </a:pPr>
            <a:r>
              <a:rPr lang="en-US" sz="3200" b="1" dirty="0">
                <a:solidFill>
                  <a:srgbClr val="2C5F2D"/>
                </a:solidFill>
                <a:latin typeface="Cambria" pitchFamily="34" charset="0"/>
                <a:ea typeface="Cambria" pitchFamily="34" charset="-122"/>
                <a:cs typeface="Cambria" pitchFamily="34" charset="-120"/>
              </a:rPr>
              <a:t>Problem Statement</a:t>
            </a:r>
            <a:endParaRPr lang="en-US" sz="3200" dirty="0"/>
          </a:p>
        </p:txBody>
      </p:sp>
      <p:sp>
        <p:nvSpPr>
          <p:cNvPr id="4" name="Shape 2"/>
          <p:cNvSpPr/>
          <p:nvPr/>
        </p:nvSpPr>
        <p:spPr>
          <a:xfrm>
            <a:off x="548640" y="1737360"/>
            <a:ext cx="6949440" cy="4480560"/>
          </a:xfrm>
          <a:prstGeom prst="roundRect">
            <a:avLst>
              <a:gd name="adj" fmla="val 2449"/>
            </a:avLst>
          </a:prstGeom>
          <a:solidFill>
            <a:srgbClr val="F5F5F5"/>
          </a:solidFill>
          <a:ln/>
        </p:spPr>
      </p:sp>
      <p:sp>
        <p:nvSpPr>
          <p:cNvPr id="5" name="Text 3"/>
          <p:cNvSpPr/>
          <p:nvPr/>
        </p:nvSpPr>
        <p:spPr>
          <a:xfrm>
            <a:off x="868680" y="2011680"/>
            <a:ext cx="6309360" cy="3931920"/>
          </a:xfrm>
          <a:prstGeom prst="rect">
            <a:avLst/>
          </a:prstGeom>
          <a:noFill/>
          <a:ln/>
        </p:spPr>
        <p:txBody>
          <a:bodyPr wrap="square" rtlCol="0" anchor="t"/>
          <a:lstStyle/>
          <a:p>
            <a:pPr indent="0" marL="0">
              <a:lnSpc>
                <a:spcPct val="125000"/>
              </a:lnSpc>
              <a:buNone/>
            </a:pPr>
            <a:r>
              <a:rPr lang="en-US" sz="1500" dirty="0">
                <a:solidFill>
                  <a:srgbClr val="1F2E1F"/>
                </a:solidFill>
                <a:latin typeface="Calibri" pitchFamily="34" charset="0"/>
                <a:ea typeface="Calibri" pitchFamily="34" charset="-122"/>
                <a:cs typeface="Calibri" pitchFamily="34" charset="-120"/>
              </a:rPr>
              <a:t>Small-scale Indian farmers struggle to access timely, localized guidance on weather, soil conditions, crop selection, pest control, and market prices, since this information is scattered across government portals, meteorological sources, and agri-tech platforms rather than unified in one place.</a:t>
            </a:r>
            <a:endParaRPr lang="en-US" sz="1500" dirty="0"/>
          </a:p>
          <a:p>
            <a:pPr indent="0" marL="0">
              <a:lnSpc>
                <a:spcPct val="125000"/>
              </a:lnSpc>
              <a:buNone/>
            </a:pPr>
            <a:endParaRPr lang="en-US" sz="1500" dirty="0"/>
          </a:p>
          <a:p>
            <a:pPr indent="0" marL="0">
              <a:lnSpc>
                <a:spcPct val="125000"/>
              </a:lnSpc>
              <a:buNone/>
            </a:pPr>
            <a:r>
              <a:rPr lang="en-US" sz="1500" dirty="0">
                <a:solidFill>
                  <a:srgbClr val="1F2E1F"/>
                </a:solidFill>
                <a:latin typeface="Calibri" pitchFamily="34" charset="0"/>
                <a:ea typeface="Calibri" pitchFamily="34" charset="-122"/>
                <a:cs typeface="Calibri" pitchFamily="34" charset="-120"/>
              </a:rPr>
              <a:t>Most of this data is also available only in English, leaving farmers who speak Tamil, Hindi, or other regional languages unable to benefit from it, while existing resources rarely account for a farmer's specific soil type, location, or current cropping season.</a:t>
            </a:r>
            <a:endParaRPr lang="en-US" sz="1500" dirty="0"/>
          </a:p>
          <a:p>
            <a:pPr indent="0" marL="0">
              <a:lnSpc>
                <a:spcPct val="125000"/>
              </a:lnSpc>
              <a:buNone/>
            </a:pPr>
            <a:endParaRPr lang="en-US" sz="1500" dirty="0"/>
          </a:p>
          <a:p>
            <a:pPr indent="0" marL="0">
              <a:lnSpc>
                <a:spcPct val="125000"/>
              </a:lnSpc>
              <a:buNone/>
            </a:pPr>
            <a:r>
              <a:rPr lang="en-US" sz="1500" dirty="0">
                <a:solidFill>
                  <a:srgbClr val="1F2E1F"/>
                </a:solidFill>
                <a:latin typeface="Calibri" pitchFamily="34" charset="0"/>
                <a:ea typeface="Calibri" pitchFamily="34" charset="-122"/>
                <a:cs typeface="Calibri" pitchFamily="34" charset="-120"/>
              </a:rPr>
              <a:t>Without timely, personalized, and trustworthy guidance, farmers face increased risk from poor crop selection, pest losses, and unfair pricing — reducing yield and income.</a:t>
            </a:r>
            <a:endParaRPr lang="en-US" sz="1500" dirty="0"/>
          </a:p>
        </p:txBody>
      </p:sp>
      <p:sp>
        <p:nvSpPr>
          <p:cNvPr id="6" name="Shape 4"/>
          <p:cNvSpPr/>
          <p:nvPr/>
        </p:nvSpPr>
        <p:spPr>
          <a:xfrm>
            <a:off x="7772400" y="1828800"/>
            <a:ext cx="3840480" cy="1234440"/>
          </a:xfrm>
          <a:prstGeom prst="roundRect">
            <a:avLst>
              <a:gd name="adj" fmla="val 7407"/>
            </a:avLst>
          </a:prstGeom>
          <a:solidFill>
            <a:srgbClr val="2C5F2D"/>
          </a:solidFill>
          <a:ln/>
        </p:spPr>
      </p:sp>
      <p:sp>
        <p:nvSpPr>
          <p:cNvPr id="7" name="Text 5"/>
          <p:cNvSpPr/>
          <p:nvPr/>
        </p:nvSpPr>
        <p:spPr>
          <a:xfrm>
            <a:off x="7955280" y="1901952"/>
            <a:ext cx="1097280" cy="1097280"/>
          </a:xfrm>
          <a:prstGeom prst="rect">
            <a:avLst/>
          </a:prstGeom>
          <a:noFill/>
          <a:ln/>
        </p:spPr>
        <p:txBody>
          <a:bodyPr wrap="square" rtlCol="0" anchor="ctr"/>
          <a:lstStyle/>
          <a:p>
            <a:pPr indent="0" marL="0">
              <a:buNone/>
            </a:pPr>
            <a:r>
              <a:rPr lang="en-US" sz="4000" b="1" dirty="0">
                <a:solidFill>
                  <a:srgbClr val="97BC62"/>
                </a:solidFill>
                <a:latin typeface="Cambria" pitchFamily="34" charset="0"/>
                <a:ea typeface="Cambria" pitchFamily="34" charset="-122"/>
                <a:cs typeface="Cambria" pitchFamily="34" charset="-120"/>
              </a:rPr>
              <a:t>5</a:t>
            </a:r>
            <a:endParaRPr lang="en-US" sz="4000" dirty="0"/>
          </a:p>
        </p:txBody>
      </p:sp>
      <p:sp>
        <p:nvSpPr>
          <p:cNvPr id="8" name="Text 6"/>
          <p:cNvSpPr/>
          <p:nvPr/>
        </p:nvSpPr>
        <p:spPr>
          <a:xfrm>
            <a:off x="9144000" y="1993392"/>
            <a:ext cx="2377440" cy="457200"/>
          </a:xfrm>
          <a:prstGeom prst="rect">
            <a:avLst/>
          </a:prstGeom>
          <a:noFill/>
          <a:ln/>
        </p:spPr>
        <p:txBody>
          <a:bodyPr wrap="square" rtlCol="0" anchor="b"/>
          <a:lstStyle/>
          <a:p>
            <a:pPr indent="0" marL="0">
              <a:buNone/>
            </a:pPr>
            <a:r>
              <a:rPr lang="en-US" sz="1300" b="1" dirty="0">
                <a:solidFill>
                  <a:srgbClr val="FFFFFF"/>
                </a:solidFill>
                <a:latin typeface="Calibri" pitchFamily="34" charset="0"/>
                <a:ea typeface="Calibri" pitchFamily="34" charset="-122"/>
                <a:cs typeface="Calibri" pitchFamily="34" charset="-120"/>
              </a:rPr>
              <a:t>data sources needed</a:t>
            </a:r>
            <a:endParaRPr lang="en-US" sz="1300" dirty="0"/>
          </a:p>
        </p:txBody>
      </p:sp>
      <p:sp>
        <p:nvSpPr>
          <p:cNvPr id="9" name="Text 7"/>
          <p:cNvSpPr/>
          <p:nvPr/>
        </p:nvSpPr>
        <p:spPr>
          <a:xfrm>
            <a:off x="9144000" y="2423160"/>
            <a:ext cx="2377440" cy="502920"/>
          </a:xfrm>
          <a:prstGeom prst="rect">
            <a:avLst/>
          </a:prstGeom>
          <a:noFill/>
          <a:ln/>
        </p:spPr>
        <p:txBody>
          <a:bodyPr wrap="square" rtlCol="0" anchor="t"/>
          <a:lstStyle/>
          <a:p>
            <a:pPr indent="0" marL="0">
              <a:buNone/>
            </a:pPr>
            <a:r>
              <a:rPr lang="en-US" sz="1050" dirty="0">
                <a:solidFill>
                  <a:srgbClr val="F5F5F5"/>
                </a:solidFill>
                <a:latin typeface="Calibri" pitchFamily="34" charset="0"/>
                <a:ea typeface="Calibri" pitchFamily="34" charset="-122"/>
                <a:cs typeface="Calibri" pitchFamily="34" charset="-120"/>
              </a:rPr>
              <a:t>weather, soil, crop, pest, market</a:t>
            </a:r>
            <a:endParaRPr lang="en-US" sz="1050" dirty="0"/>
          </a:p>
        </p:txBody>
      </p:sp>
      <p:sp>
        <p:nvSpPr>
          <p:cNvPr id="10" name="Shape 8"/>
          <p:cNvSpPr/>
          <p:nvPr/>
        </p:nvSpPr>
        <p:spPr>
          <a:xfrm>
            <a:off x="7772400" y="3246120"/>
            <a:ext cx="3840480" cy="1234440"/>
          </a:xfrm>
          <a:prstGeom prst="roundRect">
            <a:avLst>
              <a:gd name="adj" fmla="val 7407"/>
            </a:avLst>
          </a:prstGeom>
          <a:solidFill>
            <a:srgbClr val="2C5F2D"/>
          </a:solidFill>
          <a:ln/>
        </p:spPr>
      </p:sp>
      <p:sp>
        <p:nvSpPr>
          <p:cNvPr id="11" name="Text 9"/>
          <p:cNvSpPr/>
          <p:nvPr/>
        </p:nvSpPr>
        <p:spPr>
          <a:xfrm>
            <a:off x="7955280" y="3319272"/>
            <a:ext cx="1097280" cy="1097280"/>
          </a:xfrm>
          <a:prstGeom prst="rect">
            <a:avLst/>
          </a:prstGeom>
          <a:noFill/>
          <a:ln/>
        </p:spPr>
        <p:txBody>
          <a:bodyPr wrap="square" rtlCol="0" anchor="ctr"/>
          <a:lstStyle/>
          <a:p>
            <a:pPr indent="0" marL="0">
              <a:buNone/>
            </a:pPr>
            <a:r>
              <a:rPr lang="en-US" sz="4000" b="1" dirty="0">
                <a:solidFill>
                  <a:srgbClr val="97BC62"/>
                </a:solidFill>
                <a:latin typeface="Cambria" pitchFamily="34" charset="0"/>
                <a:ea typeface="Cambria" pitchFamily="34" charset="-122"/>
                <a:cs typeface="Cambria" pitchFamily="34" charset="-120"/>
              </a:rPr>
              <a:t>2+</a:t>
            </a:r>
            <a:endParaRPr lang="en-US" sz="4000" dirty="0"/>
          </a:p>
        </p:txBody>
      </p:sp>
      <p:sp>
        <p:nvSpPr>
          <p:cNvPr id="12" name="Text 10"/>
          <p:cNvSpPr/>
          <p:nvPr/>
        </p:nvSpPr>
        <p:spPr>
          <a:xfrm>
            <a:off x="9144000" y="3410712"/>
            <a:ext cx="2377440" cy="457200"/>
          </a:xfrm>
          <a:prstGeom prst="rect">
            <a:avLst/>
          </a:prstGeom>
          <a:noFill/>
          <a:ln/>
        </p:spPr>
        <p:txBody>
          <a:bodyPr wrap="square" rtlCol="0" anchor="b"/>
          <a:lstStyle/>
          <a:p>
            <a:pPr indent="0" marL="0">
              <a:buNone/>
            </a:pPr>
            <a:r>
              <a:rPr lang="en-US" sz="1300" b="1" dirty="0">
                <a:solidFill>
                  <a:srgbClr val="FFFFFF"/>
                </a:solidFill>
                <a:latin typeface="Calibri" pitchFamily="34" charset="0"/>
                <a:ea typeface="Calibri" pitchFamily="34" charset="-122"/>
                <a:cs typeface="Calibri" pitchFamily="34" charset="-120"/>
              </a:rPr>
              <a:t>languages unsupported</a:t>
            </a:r>
            <a:endParaRPr lang="en-US" sz="1300" dirty="0"/>
          </a:p>
        </p:txBody>
      </p:sp>
      <p:sp>
        <p:nvSpPr>
          <p:cNvPr id="13" name="Text 11"/>
          <p:cNvSpPr/>
          <p:nvPr/>
        </p:nvSpPr>
        <p:spPr>
          <a:xfrm>
            <a:off x="9144000" y="3840480"/>
            <a:ext cx="2377440" cy="502920"/>
          </a:xfrm>
          <a:prstGeom prst="rect">
            <a:avLst/>
          </a:prstGeom>
          <a:noFill/>
          <a:ln/>
        </p:spPr>
        <p:txBody>
          <a:bodyPr wrap="square" rtlCol="0" anchor="t"/>
          <a:lstStyle/>
          <a:p>
            <a:pPr indent="0" marL="0">
              <a:buNone/>
            </a:pPr>
            <a:r>
              <a:rPr lang="en-US" sz="1050" dirty="0">
                <a:solidFill>
                  <a:srgbClr val="F5F5F5"/>
                </a:solidFill>
                <a:latin typeface="Calibri" pitchFamily="34" charset="0"/>
                <a:ea typeface="Calibri" pitchFamily="34" charset="-122"/>
                <a:cs typeface="Calibri" pitchFamily="34" charset="-120"/>
              </a:rPr>
              <a:t>Tamil, Hindi farmers left out</a:t>
            </a:r>
            <a:endParaRPr lang="en-US" sz="1050" dirty="0"/>
          </a:p>
        </p:txBody>
      </p:sp>
      <p:sp>
        <p:nvSpPr>
          <p:cNvPr id="14" name="Shape 12"/>
          <p:cNvSpPr/>
          <p:nvPr/>
        </p:nvSpPr>
        <p:spPr>
          <a:xfrm>
            <a:off x="7772400" y="4663440"/>
            <a:ext cx="3840480" cy="1234440"/>
          </a:xfrm>
          <a:prstGeom prst="roundRect">
            <a:avLst>
              <a:gd name="adj" fmla="val 7407"/>
            </a:avLst>
          </a:prstGeom>
          <a:solidFill>
            <a:srgbClr val="2C5F2D"/>
          </a:solidFill>
          <a:ln/>
        </p:spPr>
      </p:sp>
      <p:sp>
        <p:nvSpPr>
          <p:cNvPr id="15" name="Text 13"/>
          <p:cNvSpPr/>
          <p:nvPr/>
        </p:nvSpPr>
        <p:spPr>
          <a:xfrm>
            <a:off x="7955280" y="4736592"/>
            <a:ext cx="1097280" cy="1097280"/>
          </a:xfrm>
          <a:prstGeom prst="rect">
            <a:avLst/>
          </a:prstGeom>
          <a:noFill/>
          <a:ln/>
        </p:spPr>
        <p:txBody>
          <a:bodyPr wrap="square" rtlCol="0" anchor="ctr"/>
          <a:lstStyle/>
          <a:p>
            <a:pPr indent="0" marL="0">
              <a:buNone/>
            </a:pPr>
            <a:r>
              <a:rPr lang="en-US" sz="4000" b="1" dirty="0">
                <a:solidFill>
                  <a:srgbClr val="97BC62"/>
                </a:solidFill>
                <a:latin typeface="Cambria" pitchFamily="34" charset="0"/>
                <a:ea typeface="Cambria" pitchFamily="34" charset="-122"/>
                <a:cs typeface="Cambria" pitchFamily="34" charset="-120"/>
              </a:rPr>
              <a:t>0</a:t>
            </a:r>
            <a:endParaRPr lang="en-US" sz="4000" dirty="0"/>
          </a:p>
        </p:txBody>
      </p:sp>
      <p:sp>
        <p:nvSpPr>
          <p:cNvPr id="16" name="Text 14"/>
          <p:cNvSpPr/>
          <p:nvPr/>
        </p:nvSpPr>
        <p:spPr>
          <a:xfrm>
            <a:off x="9144000" y="4828032"/>
            <a:ext cx="2377440" cy="457200"/>
          </a:xfrm>
          <a:prstGeom prst="rect">
            <a:avLst/>
          </a:prstGeom>
          <a:noFill/>
          <a:ln/>
        </p:spPr>
        <p:txBody>
          <a:bodyPr wrap="square" rtlCol="0" anchor="b"/>
          <a:lstStyle/>
          <a:p>
            <a:pPr indent="0" marL="0">
              <a:buNone/>
            </a:pPr>
            <a:r>
              <a:rPr lang="en-US" sz="1300" b="1" dirty="0">
                <a:solidFill>
                  <a:srgbClr val="FFFFFF"/>
                </a:solidFill>
                <a:latin typeface="Calibri" pitchFamily="34" charset="0"/>
                <a:ea typeface="Calibri" pitchFamily="34" charset="-122"/>
                <a:cs typeface="Calibri" pitchFamily="34" charset="-120"/>
              </a:rPr>
              <a:t>unified tools available</a:t>
            </a:r>
            <a:endParaRPr lang="en-US" sz="1300" dirty="0"/>
          </a:p>
        </p:txBody>
      </p:sp>
      <p:sp>
        <p:nvSpPr>
          <p:cNvPr id="17" name="Text 15"/>
          <p:cNvSpPr/>
          <p:nvPr/>
        </p:nvSpPr>
        <p:spPr>
          <a:xfrm>
            <a:off x="9144000" y="5257800"/>
            <a:ext cx="2377440" cy="502920"/>
          </a:xfrm>
          <a:prstGeom prst="rect">
            <a:avLst/>
          </a:prstGeom>
          <a:noFill/>
          <a:ln/>
        </p:spPr>
        <p:txBody>
          <a:bodyPr wrap="square" rtlCol="0" anchor="t"/>
          <a:lstStyle/>
          <a:p>
            <a:pPr indent="0" marL="0">
              <a:buNone/>
            </a:pPr>
            <a:r>
              <a:rPr lang="en-US" sz="1050" dirty="0">
                <a:solidFill>
                  <a:srgbClr val="F5F5F5"/>
                </a:solidFill>
                <a:latin typeface="Calibri" pitchFamily="34" charset="0"/>
                <a:ea typeface="Calibri" pitchFamily="34" charset="-122"/>
                <a:cs typeface="Calibri" pitchFamily="34" charset="-120"/>
              </a:rPr>
              <a:t>no single advisory assistant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65760"/>
          </a:xfrm>
          <a:prstGeom prst="rect">
            <a:avLst/>
          </a:prstGeom>
          <a:noFill/>
          <a:ln/>
        </p:spPr>
        <p:txBody>
          <a:bodyPr wrap="square" rtlCol="0" anchor="ctr"/>
          <a:lstStyle/>
          <a:p>
            <a:pPr indent="0" marL="0">
              <a:buNone/>
            </a:pPr>
            <a:r>
              <a:rPr lang="en-US" sz="1300" b="1" spc="200" kern="0" dirty="0">
                <a:solidFill>
                  <a:srgbClr val="97BC62"/>
                </a:solidFill>
                <a:latin typeface="Calibri" pitchFamily="34" charset="0"/>
                <a:ea typeface="Calibri" pitchFamily="34" charset="-122"/>
                <a:cs typeface="Calibri" pitchFamily="34" charset="-120"/>
              </a:rPr>
              <a:t>02  —  WHAT WE SET OUT TO BUILD</a:t>
            </a:r>
            <a:endParaRPr lang="en-US" sz="1300" dirty="0"/>
          </a:p>
        </p:txBody>
      </p:sp>
      <p:sp>
        <p:nvSpPr>
          <p:cNvPr id="3" name="Text 1"/>
          <p:cNvSpPr/>
          <p:nvPr/>
        </p:nvSpPr>
        <p:spPr>
          <a:xfrm>
            <a:off x="548640" y="640080"/>
            <a:ext cx="11064240" cy="822960"/>
          </a:xfrm>
          <a:prstGeom prst="rect">
            <a:avLst/>
          </a:prstGeom>
          <a:noFill/>
          <a:ln/>
        </p:spPr>
        <p:txBody>
          <a:bodyPr wrap="square" rtlCol="0" anchor="ctr"/>
          <a:lstStyle/>
          <a:p>
            <a:pPr indent="0" marL="0">
              <a:buNone/>
            </a:pPr>
            <a:r>
              <a:rPr lang="en-US" sz="3200" b="1" dirty="0">
                <a:solidFill>
                  <a:srgbClr val="2C5F2D"/>
                </a:solidFill>
                <a:latin typeface="Cambria" pitchFamily="34" charset="0"/>
                <a:ea typeface="Cambria" pitchFamily="34" charset="-122"/>
                <a:cs typeface="Cambria" pitchFamily="34" charset="-120"/>
              </a:rPr>
              <a:t>Objective</a:t>
            </a:r>
            <a:endParaRPr lang="en-US" sz="3200" dirty="0"/>
          </a:p>
        </p:txBody>
      </p:sp>
      <p:sp>
        <p:nvSpPr>
          <p:cNvPr id="4" name="Shape 2"/>
          <p:cNvSpPr/>
          <p:nvPr/>
        </p:nvSpPr>
        <p:spPr>
          <a:xfrm>
            <a:off x="548640" y="1783080"/>
            <a:ext cx="5486400" cy="1143000"/>
          </a:xfrm>
          <a:prstGeom prst="roundRect">
            <a:avLst>
              <a:gd name="adj" fmla="val 8000"/>
            </a:avLst>
          </a:prstGeom>
          <a:solidFill>
            <a:srgbClr val="F5F5F5"/>
          </a:solidFill>
          <a:ln/>
        </p:spPr>
      </p:sp>
      <p:sp>
        <p:nvSpPr>
          <p:cNvPr id="5" name="Shape 3"/>
          <p:cNvSpPr/>
          <p:nvPr/>
        </p:nvSpPr>
        <p:spPr>
          <a:xfrm>
            <a:off x="713232" y="1947672"/>
            <a:ext cx="292608" cy="292608"/>
          </a:xfrm>
          <a:prstGeom prst="roundRect">
            <a:avLst>
              <a:gd name="adj" fmla="val 50000"/>
            </a:avLst>
          </a:prstGeom>
          <a:solidFill>
            <a:srgbClr val="97BC62"/>
          </a:solidFill>
          <a:ln/>
        </p:spPr>
      </p:sp>
      <p:sp>
        <p:nvSpPr>
          <p:cNvPr id="6" name="Text 4"/>
          <p:cNvSpPr/>
          <p:nvPr/>
        </p:nvSpPr>
        <p:spPr>
          <a:xfrm>
            <a:off x="713232" y="1947672"/>
            <a:ext cx="292608" cy="292608"/>
          </a:xfrm>
          <a:prstGeom prst="rect">
            <a:avLst/>
          </a:prstGeom>
          <a:noFill/>
          <a:ln/>
        </p:spPr>
        <p:txBody>
          <a:bodyPr wrap="square" rtlCol="0" anchor="ctr"/>
          <a:lstStyle/>
          <a:p>
            <a:pPr algn="ctr" indent="0" marL="0">
              <a:buNone/>
            </a:pPr>
            <a:r>
              <a:rPr lang="en-US" sz="1200" b="1" dirty="0">
                <a:solidFill>
                  <a:srgbClr val="2C5F2D"/>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143000" y="1892808"/>
            <a:ext cx="4754880" cy="365760"/>
          </a:xfrm>
          <a:prstGeom prst="rect">
            <a:avLst/>
          </a:prstGeom>
          <a:noFill/>
          <a:ln/>
        </p:spPr>
        <p:txBody>
          <a:bodyPr wrap="square" rtlCol="0" anchor="ctr"/>
          <a:lstStyle/>
          <a:p>
            <a:pPr indent="0" marL="0">
              <a:buNone/>
            </a:pPr>
            <a:r>
              <a:rPr lang="en-US" sz="1350" b="1" dirty="0">
                <a:solidFill>
                  <a:srgbClr val="2C5F2D"/>
                </a:solidFill>
                <a:latin typeface="Calibri" pitchFamily="34" charset="0"/>
                <a:ea typeface="Calibri" pitchFamily="34" charset="-122"/>
                <a:cs typeface="Calibri" pitchFamily="34" charset="-120"/>
              </a:rPr>
              <a:t>Crop Recommendation</a:t>
            </a:r>
            <a:endParaRPr lang="en-US" sz="1350" dirty="0"/>
          </a:p>
        </p:txBody>
      </p:sp>
      <p:sp>
        <p:nvSpPr>
          <p:cNvPr id="8" name="Text 6"/>
          <p:cNvSpPr/>
          <p:nvPr/>
        </p:nvSpPr>
        <p:spPr>
          <a:xfrm>
            <a:off x="1143000" y="2240280"/>
            <a:ext cx="4754880" cy="621792"/>
          </a:xfrm>
          <a:prstGeom prst="rect">
            <a:avLst/>
          </a:prstGeom>
          <a:noFill/>
          <a:ln/>
        </p:spPr>
        <p:txBody>
          <a:bodyPr wrap="square" rtlCol="0" anchor="ctr"/>
          <a:lstStyle/>
          <a:p>
            <a:pPr indent="0" marL="0">
              <a:lnSpc>
                <a:spcPct val="110000"/>
              </a:lnSpc>
              <a:buNone/>
            </a:pPr>
            <a:r>
              <a:rPr lang="en-US" sz="1100" dirty="0">
                <a:solidFill>
                  <a:srgbClr val="5A6B5A"/>
                </a:solidFill>
                <a:latin typeface="Calibri" pitchFamily="34" charset="0"/>
                <a:ea typeface="Calibri" pitchFamily="34" charset="-122"/>
                <a:cs typeface="Calibri" pitchFamily="34" charset="-120"/>
              </a:rPr>
              <a:t>Suggest suitable crops based on soil N-P-K, temperature, humidity, pH, and rainfall.</a:t>
            </a:r>
            <a:endParaRPr lang="en-US" sz="1100" dirty="0"/>
          </a:p>
        </p:txBody>
      </p:sp>
      <p:sp>
        <p:nvSpPr>
          <p:cNvPr id="9" name="Shape 7"/>
          <p:cNvSpPr/>
          <p:nvPr/>
        </p:nvSpPr>
        <p:spPr>
          <a:xfrm>
            <a:off x="6263640" y="1783080"/>
            <a:ext cx="5486400" cy="1143000"/>
          </a:xfrm>
          <a:prstGeom prst="roundRect">
            <a:avLst>
              <a:gd name="adj" fmla="val 8000"/>
            </a:avLst>
          </a:prstGeom>
          <a:solidFill>
            <a:srgbClr val="F5F5F5"/>
          </a:solidFill>
          <a:ln/>
        </p:spPr>
      </p:sp>
      <p:sp>
        <p:nvSpPr>
          <p:cNvPr id="10" name="Shape 8"/>
          <p:cNvSpPr/>
          <p:nvPr/>
        </p:nvSpPr>
        <p:spPr>
          <a:xfrm>
            <a:off x="6428232" y="1947672"/>
            <a:ext cx="292608" cy="292608"/>
          </a:xfrm>
          <a:prstGeom prst="roundRect">
            <a:avLst>
              <a:gd name="adj" fmla="val 50000"/>
            </a:avLst>
          </a:prstGeom>
          <a:solidFill>
            <a:srgbClr val="97BC62"/>
          </a:solidFill>
          <a:ln/>
        </p:spPr>
      </p:sp>
      <p:sp>
        <p:nvSpPr>
          <p:cNvPr id="11" name="Text 9"/>
          <p:cNvSpPr/>
          <p:nvPr/>
        </p:nvSpPr>
        <p:spPr>
          <a:xfrm>
            <a:off x="6428232" y="1947672"/>
            <a:ext cx="292608" cy="292608"/>
          </a:xfrm>
          <a:prstGeom prst="rect">
            <a:avLst/>
          </a:prstGeom>
          <a:noFill/>
          <a:ln/>
        </p:spPr>
        <p:txBody>
          <a:bodyPr wrap="square" rtlCol="0" anchor="ctr"/>
          <a:lstStyle/>
          <a:p>
            <a:pPr algn="ctr" indent="0" marL="0">
              <a:buNone/>
            </a:pPr>
            <a:r>
              <a:rPr lang="en-US" sz="1200" b="1" dirty="0">
                <a:solidFill>
                  <a:srgbClr val="2C5F2D"/>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6858000" y="1892808"/>
            <a:ext cx="4754880" cy="365760"/>
          </a:xfrm>
          <a:prstGeom prst="rect">
            <a:avLst/>
          </a:prstGeom>
          <a:noFill/>
          <a:ln/>
        </p:spPr>
        <p:txBody>
          <a:bodyPr wrap="square" rtlCol="0" anchor="ctr"/>
          <a:lstStyle/>
          <a:p>
            <a:pPr indent="0" marL="0">
              <a:buNone/>
            </a:pPr>
            <a:r>
              <a:rPr lang="en-US" sz="1350" b="1" dirty="0">
                <a:solidFill>
                  <a:srgbClr val="2C5F2D"/>
                </a:solidFill>
                <a:latin typeface="Calibri" pitchFamily="34" charset="0"/>
                <a:ea typeface="Calibri" pitchFamily="34" charset="-122"/>
                <a:cs typeface="Calibri" pitchFamily="34" charset="-120"/>
              </a:rPr>
              <a:t>Trusted Data Retrieval (RAG)</a:t>
            </a:r>
            <a:endParaRPr lang="en-US" sz="1350" dirty="0"/>
          </a:p>
        </p:txBody>
      </p:sp>
      <p:sp>
        <p:nvSpPr>
          <p:cNvPr id="13" name="Text 11"/>
          <p:cNvSpPr/>
          <p:nvPr/>
        </p:nvSpPr>
        <p:spPr>
          <a:xfrm>
            <a:off x="6858000" y="2240280"/>
            <a:ext cx="4754880" cy="621792"/>
          </a:xfrm>
          <a:prstGeom prst="rect">
            <a:avLst/>
          </a:prstGeom>
          <a:noFill/>
          <a:ln/>
        </p:spPr>
        <p:txBody>
          <a:bodyPr wrap="square" rtlCol="0" anchor="ctr"/>
          <a:lstStyle/>
          <a:p>
            <a:pPr indent="0" marL="0">
              <a:lnSpc>
                <a:spcPct val="110000"/>
              </a:lnSpc>
              <a:buNone/>
            </a:pPr>
            <a:r>
              <a:rPr lang="en-US" sz="1100" dirty="0">
                <a:solidFill>
                  <a:srgbClr val="5A6B5A"/>
                </a:solidFill>
                <a:latin typeface="Calibri" pitchFamily="34" charset="0"/>
                <a:ea typeface="Calibri" pitchFamily="34" charset="-122"/>
                <a:cs typeface="Calibri" pitchFamily="34" charset="-120"/>
              </a:rPr>
              <a:t>Ground answers in verified agricultural data instead of the model's general knowledge.</a:t>
            </a:r>
            <a:endParaRPr lang="en-US" sz="1100" dirty="0"/>
          </a:p>
        </p:txBody>
      </p:sp>
      <p:sp>
        <p:nvSpPr>
          <p:cNvPr id="14" name="Shape 12"/>
          <p:cNvSpPr/>
          <p:nvPr/>
        </p:nvSpPr>
        <p:spPr>
          <a:xfrm>
            <a:off x="548640" y="3063240"/>
            <a:ext cx="5486400" cy="1143000"/>
          </a:xfrm>
          <a:prstGeom prst="roundRect">
            <a:avLst>
              <a:gd name="adj" fmla="val 8000"/>
            </a:avLst>
          </a:prstGeom>
          <a:solidFill>
            <a:srgbClr val="F5F5F5"/>
          </a:solidFill>
          <a:ln/>
        </p:spPr>
      </p:sp>
      <p:sp>
        <p:nvSpPr>
          <p:cNvPr id="15" name="Shape 13"/>
          <p:cNvSpPr/>
          <p:nvPr/>
        </p:nvSpPr>
        <p:spPr>
          <a:xfrm>
            <a:off x="713232" y="3227832"/>
            <a:ext cx="292608" cy="292608"/>
          </a:xfrm>
          <a:prstGeom prst="roundRect">
            <a:avLst>
              <a:gd name="adj" fmla="val 50000"/>
            </a:avLst>
          </a:prstGeom>
          <a:solidFill>
            <a:srgbClr val="97BC62"/>
          </a:solidFill>
          <a:ln/>
        </p:spPr>
      </p:sp>
      <p:sp>
        <p:nvSpPr>
          <p:cNvPr id="16" name="Text 14"/>
          <p:cNvSpPr/>
          <p:nvPr/>
        </p:nvSpPr>
        <p:spPr>
          <a:xfrm>
            <a:off x="713232" y="3227832"/>
            <a:ext cx="292608" cy="292608"/>
          </a:xfrm>
          <a:prstGeom prst="rect">
            <a:avLst/>
          </a:prstGeom>
          <a:noFill/>
          <a:ln/>
        </p:spPr>
        <p:txBody>
          <a:bodyPr wrap="square" rtlCol="0" anchor="ctr"/>
          <a:lstStyle/>
          <a:p>
            <a:pPr algn="ctr" indent="0" marL="0">
              <a:buNone/>
            </a:pPr>
            <a:r>
              <a:rPr lang="en-US" sz="1200" b="1" dirty="0">
                <a:solidFill>
                  <a:srgbClr val="2C5F2D"/>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1143000" y="3172968"/>
            <a:ext cx="4754880" cy="365760"/>
          </a:xfrm>
          <a:prstGeom prst="rect">
            <a:avLst/>
          </a:prstGeom>
          <a:noFill/>
          <a:ln/>
        </p:spPr>
        <p:txBody>
          <a:bodyPr wrap="square" rtlCol="0" anchor="ctr"/>
          <a:lstStyle/>
          <a:p>
            <a:pPr indent="0" marL="0">
              <a:buNone/>
            </a:pPr>
            <a:r>
              <a:rPr lang="en-US" sz="1350" b="1" dirty="0">
                <a:solidFill>
                  <a:srgbClr val="2C5F2D"/>
                </a:solidFill>
                <a:latin typeface="Calibri" pitchFamily="34" charset="0"/>
                <a:ea typeface="Calibri" pitchFamily="34" charset="-122"/>
                <a:cs typeface="Calibri" pitchFamily="34" charset="-120"/>
              </a:rPr>
              <a:t>Pest and Disease Control</a:t>
            </a:r>
            <a:endParaRPr lang="en-US" sz="1350" dirty="0"/>
          </a:p>
        </p:txBody>
      </p:sp>
      <p:sp>
        <p:nvSpPr>
          <p:cNvPr id="18" name="Text 16"/>
          <p:cNvSpPr/>
          <p:nvPr/>
        </p:nvSpPr>
        <p:spPr>
          <a:xfrm>
            <a:off x="1143000" y="3520440"/>
            <a:ext cx="4754880" cy="621792"/>
          </a:xfrm>
          <a:prstGeom prst="rect">
            <a:avLst/>
          </a:prstGeom>
          <a:noFill/>
          <a:ln/>
        </p:spPr>
        <p:txBody>
          <a:bodyPr wrap="square" rtlCol="0" anchor="ctr"/>
          <a:lstStyle/>
          <a:p>
            <a:pPr indent="0" marL="0">
              <a:lnSpc>
                <a:spcPct val="110000"/>
              </a:lnSpc>
              <a:buNone/>
            </a:pPr>
            <a:r>
              <a:rPr lang="en-US" sz="1100" dirty="0">
                <a:solidFill>
                  <a:srgbClr val="5A6B5A"/>
                </a:solidFill>
                <a:latin typeface="Calibri" pitchFamily="34" charset="0"/>
                <a:ea typeface="Calibri" pitchFamily="34" charset="-122"/>
                <a:cs typeface="Calibri" pitchFamily="34" charset="-120"/>
              </a:rPr>
              <a:t>Accurate, crop-specific pest identification and control from ICAR/KVK sources.</a:t>
            </a:r>
            <a:endParaRPr lang="en-US" sz="1100" dirty="0"/>
          </a:p>
        </p:txBody>
      </p:sp>
      <p:sp>
        <p:nvSpPr>
          <p:cNvPr id="19" name="Shape 17"/>
          <p:cNvSpPr/>
          <p:nvPr/>
        </p:nvSpPr>
        <p:spPr>
          <a:xfrm>
            <a:off x="6263640" y="3063240"/>
            <a:ext cx="5486400" cy="1143000"/>
          </a:xfrm>
          <a:prstGeom prst="roundRect">
            <a:avLst>
              <a:gd name="adj" fmla="val 8000"/>
            </a:avLst>
          </a:prstGeom>
          <a:solidFill>
            <a:srgbClr val="F5F5F5"/>
          </a:solidFill>
          <a:ln/>
        </p:spPr>
      </p:sp>
      <p:sp>
        <p:nvSpPr>
          <p:cNvPr id="20" name="Shape 18"/>
          <p:cNvSpPr/>
          <p:nvPr/>
        </p:nvSpPr>
        <p:spPr>
          <a:xfrm>
            <a:off x="6428232" y="3227832"/>
            <a:ext cx="292608" cy="292608"/>
          </a:xfrm>
          <a:prstGeom prst="roundRect">
            <a:avLst>
              <a:gd name="adj" fmla="val 50000"/>
            </a:avLst>
          </a:prstGeom>
          <a:solidFill>
            <a:srgbClr val="97BC62"/>
          </a:solidFill>
          <a:ln/>
        </p:spPr>
      </p:sp>
      <p:sp>
        <p:nvSpPr>
          <p:cNvPr id="21" name="Text 19"/>
          <p:cNvSpPr/>
          <p:nvPr/>
        </p:nvSpPr>
        <p:spPr>
          <a:xfrm>
            <a:off x="6428232" y="3227832"/>
            <a:ext cx="292608" cy="292608"/>
          </a:xfrm>
          <a:prstGeom prst="rect">
            <a:avLst/>
          </a:prstGeom>
          <a:noFill/>
          <a:ln/>
        </p:spPr>
        <p:txBody>
          <a:bodyPr wrap="square" rtlCol="0" anchor="ctr"/>
          <a:lstStyle/>
          <a:p>
            <a:pPr algn="ctr" indent="0" marL="0">
              <a:buNone/>
            </a:pPr>
            <a:r>
              <a:rPr lang="en-US" sz="1200" b="1" dirty="0">
                <a:solidFill>
                  <a:srgbClr val="2C5F2D"/>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6858000" y="3172968"/>
            <a:ext cx="4754880" cy="365760"/>
          </a:xfrm>
          <a:prstGeom prst="rect">
            <a:avLst/>
          </a:prstGeom>
          <a:noFill/>
          <a:ln/>
        </p:spPr>
        <p:txBody>
          <a:bodyPr wrap="square" rtlCol="0" anchor="ctr"/>
          <a:lstStyle/>
          <a:p>
            <a:pPr indent="0" marL="0">
              <a:buNone/>
            </a:pPr>
            <a:r>
              <a:rPr lang="en-US" sz="1350" b="1" dirty="0">
                <a:solidFill>
                  <a:srgbClr val="2C5F2D"/>
                </a:solidFill>
                <a:latin typeface="Calibri" pitchFamily="34" charset="0"/>
                <a:ea typeface="Calibri" pitchFamily="34" charset="-122"/>
                <a:cs typeface="Calibri" pitchFamily="34" charset="-120"/>
              </a:rPr>
              <a:t>Market Price Guidance</a:t>
            </a:r>
            <a:endParaRPr lang="en-US" sz="1350" dirty="0"/>
          </a:p>
        </p:txBody>
      </p:sp>
      <p:sp>
        <p:nvSpPr>
          <p:cNvPr id="23" name="Text 21"/>
          <p:cNvSpPr/>
          <p:nvPr/>
        </p:nvSpPr>
        <p:spPr>
          <a:xfrm>
            <a:off x="6858000" y="3520440"/>
            <a:ext cx="4754880" cy="621792"/>
          </a:xfrm>
          <a:prstGeom prst="rect">
            <a:avLst/>
          </a:prstGeom>
          <a:noFill/>
          <a:ln/>
        </p:spPr>
        <p:txBody>
          <a:bodyPr wrap="square" rtlCol="0" anchor="ctr"/>
          <a:lstStyle/>
          <a:p>
            <a:pPr indent="0" marL="0">
              <a:lnSpc>
                <a:spcPct val="110000"/>
              </a:lnSpc>
              <a:buNone/>
            </a:pPr>
            <a:r>
              <a:rPr lang="en-US" sz="1100" dirty="0">
                <a:solidFill>
                  <a:srgbClr val="5A6B5A"/>
                </a:solidFill>
                <a:latin typeface="Calibri" pitchFamily="34" charset="0"/>
                <a:ea typeface="Calibri" pitchFamily="34" charset="-122"/>
                <a:cs typeface="Calibri" pitchFamily="34" charset="-120"/>
              </a:rPr>
              <a:t>Answer mandi rate queries using real, structured market reference data.</a:t>
            </a:r>
            <a:endParaRPr lang="en-US" sz="1100" dirty="0"/>
          </a:p>
        </p:txBody>
      </p:sp>
      <p:sp>
        <p:nvSpPr>
          <p:cNvPr id="24" name="Shape 22"/>
          <p:cNvSpPr/>
          <p:nvPr/>
        </p:nvSpPr>
        <p:spPr>
          <a:xfrm>
            <a:off x="548640" y="4343400"/>
            <a:ext cx="5486400" cy="1143000"/>
          </a:xfrm>
          <a:prstGeom prst="roundRect">
            <a:avLst>
              <a:gd name="adj" fmla="val 8000"/>
            </a:avLst>
          </a:prstGeom>
          <a:solidFill>
            <a:srgbClr val="F5F5F5"/>
          </a:solidFill>
          <a:ln/>
        </p:spPr>
      </p:sp>
      <p:sp>
        <p:nvSpPr>
          <p:cNvPr id="25" name="Shape 23"/>
          <p:cNvSpPr/>
          <p:nvPr/>
        </p:nvSpPr>
        <p:spPr>
          <a:xfrm>
            <a:off x="713232" y="4507992"/>
            <a:ext cx="292608" cy="292608"/>
          </a:xfrm>
          <a:prstGeom prst="roundRect">
            <a:avLst>
              <a:gd name="adj" fmla="val 50000"/>
            </a:avLst>
          </a:prstGeom>
          <a:solidFill>
            <a:srgbClr val="97BC62"/>
          </a:solidFill>
          <a:ln/>
        </p:spPr>
      </p:sp>
      <p:sp>
        <p:nvSpPr>
          <p:cNvPr id="26" name="Text 24"/>
          <p:cNvSpPr/>
          <p:nvPr/>
        </p:nvSpPr>
        <p:spPr>
          <a:xfrm>
            <a:off x="713232" y="4507992"/>
            <a:ext cx="292608" cy="292608"/>
          </a:xfrm>
          <a:prstGeom prst="rect">
            <a:avLst/>
          </a:prstGeom>
          <a:noFill/>
          <a:ln/>
        </p:spPr>
        <p:txBody>
          <a:bodyPr wrap="square" rtlCol="0" anchor="ctr"/>
          <a:lstStyle/>
          <a:p>
            <a:pPr algn="ctr" indent="0" marL="0">
              <a:buNone/>
            </a:pPr>
            <a:r>
              <a:rPr lang="en-US" sz="1200" b="1" dirty="0">
                <a:solidFill>
                  <a:srgbClr val="2C5F2D"/>
                </a:solidFill>
                <a:latin typeface="Calibri" pitchFamily="34" charset="0"/>
                <a:ea typeface="Calibri" pitchFamily="34" charset="-122"/>
                <a:cs typeface="Calibri" pitchFamily="34" charset="-120"/>
              </a:rPr>
              <a:t>5</a:t>
            </a:r>
            <a:endParaRPr lang="en-US" sz="1200" dirty="0"/>
          </a:p>
        </p:txBody>
      </p:sp>
      <p:sp>
        <p:nvSpPr>
          <p:cNvPr id="27" name="Text 25"/>
          <p:cNvSpPr/>
          <p:nvPr/>
        </p:nvSpPr>
        <p:spPr>
          <a:xfrm>
            <a:off x="1143000" y="4453128"/>
            <a:ext cx="4754880" cy="365760"/>
          </a:xfrm>
          <a:prstGeom prst="rect">
            <a:avLst/>
          </a:prstGeom>
          <a:noFill/>
          <a:ln/>
        </p:spPr>
        <p:txBody>
          <a:bodyPr wrap="square" rtlCol="0" anchor="ctr"/>
          <a:lstStyle/>
          <a:p>
            <a:pPr indent="0" marL="0">
              <a:buNone/>
            </a:pPr>
            <a:r>
              <a:rPr lang="en-US" sz="1350" b="1" dirty="0">
                <a:solidFill>
                  <a:srgbClr val="2C5F2D"/>
                </a:solidFill>
                <a:latin typeface="Calibri" pitchFamily="34" charset="0"/>
                <a:ea typeface="Calibri" pitchFamily="34" charset="-122"/>
                <a:cs typeface="Calibri" pitchFamily="34" charset="-120"/>
              </a:rPr>
              <a:t>Multilingual Interaction</a:t>
            </a:r>
            <a:endParaRPr lang="en-US" sz="1350" dirty="0"/>
          </a:p>
        </p:txBody>
      </p:sp>
      <p:sp>
        <p:nvSpPr>
          <p:cNvPr id="28" name="Text 26"/>
          <p:cNvSpPr/>
          <p:nvPr/>
        </p:nvSpPr>
        <p:spPr>
          <a:xfrm>
            <a:off x="1143000" y="4800600"/>
            <a:ext cx="4754880" cy="621792"/>
          </a:xfrm>
          <a:prstGeom prst="rect">
            <a:avLst/>
          </a:prstGeom>
          <a:noFill/>
          <a:ln/>
        </p:spPr>
        <p:txBody>
          <a:bodyPr wrap="square" rtlCol="0" anchor="ctr"/>
          <a:lstStyle/>
          <a:p>
            <a:pPr indent="0" marL="0">
              <a:lnSpc>
                <a:spcPct val="110000"/>
              </a:lnSpc>
              <a:buNone/>
            </a:pPr>
            <a:r>
              <a:rPr lang="en-US" sz="1100" dirty="0">
                <a:solidFill>
                  <a:srgbClr val="5A6B5A"/>
                </a:solidFill>
                <a:latin typeface="Calibri" pitchFamily="34" charset="0"/>
                <a:ea typeface="Calibri" pitchFamily="34" charset="-122"/>
                <a:cs typeface="Calibri" pitchFamily="34" charset="-120"/>
              </a:rPr>
              <a:t>Let farmers ask and receive answers in Tamil, Hindi, or English.</a:t>
            </a:r>
            <a:endParaRPr lang="en-US" sz="1100" dirty="0"/>
          </a:p>
        </p:txBody>
      </p:sp>
      <p:sp>
        <p:nvSpPr>
          <p:cNvPr id="29" name="Shape 27"/>
          <p:cNvSpPr/>
          <p:nvPr/>
        </p:nvSpPr>
        <p:spPr>
          <a:xfrm>
            <a:off x="6263640" y="4343400"/>
            <a:ext cx="5486400" cy="1143000"/>
          </a:xfrm>
          <a:prstGeom prst="roundRect">
            <a:avLst>
              <a:gd name="adj" fmla="val 8000"/>
            </a:avLst>
          </a:prstGeom>
          <a:solidFill>
            <a:srgbClr val="F5F5F5"/>
          </a:solidFill>
          <a:ln/>
        </p:spPr>
      </p:sp>
      <p:sp>
        <p:nvSpPr>
          <p:cNvPr id="30" name="Shape 28"/>
          <p:cNvSpPr/>
          <p:nvPr/>
        </p:nvSpPr>
        <p:spPr>
          <a:xfrm>
            <a:off x="6428232" y="4507992"/>
            <a:ext cx="292608" cy="292608"/>
          </a:xfrm>
          <a:prstGeom prst="roundRect">
            <a:avLst>
              <a:gd name="adj" fmla="val 50000"/>
            </a:avLst>
          </a:prstGeom>
          <a:solidFill>
            <a:srgbClr val="97BC62"/>
          </a:solidFill>
          <a:ln/>
        </p:spPr>
      </p:sp>
      <p:sp>
        <p:nvSpPr>
          <p:cNvPr id="31" name="Text 29"/>
          <p:cNvSpPr/>
          <p:nvPr/>
        </p:nvSpPr>
        <p:spPr>
          <a:xfrm>
            <a:off x="6428232" y="4507992"/>
            <a:ext cx="292608" cy="292608"/>
          </a:xfrm>
          <a:prstGeom prst="rect">
            <a:avLst/>
          </a:prstGeom>
          <a:noFill/>
          <a:ln/>
        </p:spPr>
        <p:txBody>
          <a:bodyPr wrap="square" rtlCol="0" anchor="ctr"/>
          <a:lstStyle/>
          <a:p>
            <a:pPr algn="ctr" indent="0" marL="0">
              <a:buNone/>
            </a:pPr>
            <a:r>
              <a:rPr lang="en-US" sz="1200" b="1" dirty="0">
                <a:solidFill>
                  <a:srgbClr val="2C5F2D"/>
                </a:solidFill>
                <a:latin typeface="Calibri" pitchFamily="34" charset="0"/>
                <a:ea typeface="Calibri" pitchFamily="34" charset="-122"/>
                <a:cs typeface="Calibri" pitchFamily="34" charset="-120"/>
              </a:rPr>
              <a:t>6</a:t>
            </a:r>
            <a:endParaRPr lang="en-US" sz="1200" dirty="0"/>
          </a:p>
        </p:txBody>
      </p:sp>
      <p:sp>
        <p:nvSpPr>
          <p:cNvPr id="32" name="Text 30"/>
          <p:cNvSpPr/>
          <p:nvPr/>
        </p:nvSpPr>
        <p:spPr>
          <a:xfrm>
            <a:off x="6858000" y="4453128"/>
            <a:ext cx="4754880" cy="365760"/>
          </a:xfrm>
          <a:prstGeom prst="rect">
            <a:avLst/>
          </a:prstGeom>
          <a:noFill/>
          <a:ln/>
        </p:spPr>
        <p:txBody>
          <a:bodyPr wrap="square" rtlCol="0" anchor="ctr"/>
          <a:lstStyle/>
          <a:p>
            <a:pPr indent="0" marL="0">
              <a:buNone/>
            </a:pPr>
            <a:r>
              <a:rPr lang="en-US" sz="1350" b="1" dirty="0">
                <a:solidFill>
                  <a:srgbClr val="2C5F2D"/>
                </a:solidFill>
                <a:latin typeface="Calibri" pitchFamily="34" charset="0"/>
                <a:ea typeface="Calibri" pitchFamily="34" charset="-122"/>
                <a:cs typeface="Calibri" pitchFamily="34" charset="-120"/>
              </a:rPr>
              <a:t>Seasonal Awareness</a:t>
            </a:r>
            <a:endParaRPr lang="en-US" sz="1350" dirty="0"/>
          </a:p>
        </p:txBody>
      </p:sp>
      <p:sp>
        <p:nvSpPr>
          <p:cNvPr id="33" name="Text 31"/>
          <p:cNvSpPr/>
          <p:nvPr/>
        </p:nvSpPr>
        <p:spPr>
          <a:xfrm>
            <a:off x="6858000" y="4800600"/>
            <a:ext cx="4754880" cy="621792"/>
          </a:xfrm>
          <a:prstGeom prst="rect">
            <a:avLst/>
          </a:prstGeom>
          <a:noFill/>
          <a:ln/>
        </p:spPr>
        <p:txBody>
          <a:bodyPr wrap="square" rtlCol="0" anchor="ctr"/>
          <a:lstStyle/>
          <a:p>
            <a:pPr indent="0" marL="0">
              <a:lnSpc>
                <a:spcPct val="110000"/>
              </a:lnSpc>
              <a:buNone/>
            </a:pPr>
            <a:r>
              <a:rPr lang="en-US" sz="1100" dirty="0">
                <a:solidFill>
                  <a:srgbClr val="5A6B5A"/>
                </a:solidFill>
                <a:latin typeface="Calibri" pitchFamily="34" charset="0"/>
                <a:ea typeface="Calibri" pitchFamily="34" charset="-122"/>
                <a:cs typeface="Calibri" pitchFamily="34" charset="-120"/>
              </a:rPr>
              <a:t>Infer Kharif/Rabi/Zaid season from the current date for accurate advice.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C5F2D"/>
        </a:solidFill>
      </p:bgPr>
    </p:bg>
    <p:spTree>
      <p:nvGrpSpPr>
        <p:cNvPr id="1" name=""/>
        <p:cNvGrpSpPr/>
        <p:nvPr/>
      </p:nvGrpSpPr>
      <p:grpSpPr>
        <a:xfrm>
          <a:off x="0" y="0"/>
          <a:ext cx="0" cy="0"/>
          <a:chOff x="0" y="0"/>
          <a:chExt cx="0" cy="0"/>
        </a:xfrm>
      </p:grpSpPr>
      <p:sp>
        <p:nvSpPr>
          <p:cNvPr id="2" name="Text 0"/>
          <p:cNvSpPr/>
          <p:nvPr/>
        </p:nvSpPr>
        <p:spPr>
          <a:xfrm>
            <a:off x="548640" y="320040"/>
            <a:ext cx="7315200" cy="365760"/>
          </a:xfrm>
          <a:prstGeom prst="rect">
            <a:avLst/>
          </a:prstGeom>
          <a:noFill/>
          <a:ln/>
        </p:spPr>
        <p:txBody>
          <a:bodyPr wrap="square" rtlCol="0" anchor="ctr"/>
          <a:lstStyle/>
          <a:p>
            <a:pPr indent="0" marL="0">
              <a:buNone/>
            </a:pPr>
            <a:r>
              <a:rPr lang="en-US" sz="1300" b="1" spc="200" kern="0" dirty="0">
                <a:solidFill>
                  <a:srgbClr val="97BC62"/>
                </a:solidFill>
                <a:latin typeface="Calibri" pitchFamily="34" charset="0"/>
                <a:ea typeface="Calibri" pitchFamily="34" charset="-122"/>
                <a:cs typeface="Calibri" pitchFamily="34" charset="-120"/>
              </a:rPr>
              <a:t>03  —  HOW WE SOLVE IT</a:t>
            </a:r>
            <a:endParaRPr lang="en-US" sz="1300" dirty="0"/>
          </a:p>
        </p:txBody>
      </p:sp>
      <p:sp>
        <p:nvSpPr>
          <p:cNvPr id="3" name="Text 1"/>
          <p:cNvSpPr/>
          <p:nvPr/>
        </p:nvSpPr>
        <p:spPr>
          <a:xfrm>
            <a:off x="548640" y="640080"/>
            <a:ext cx="11064240" cy="8229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Proposed Solution</a:t>
            </a:r>
            <a:endParaRPr lang="en-US" sz="3200" dirty="0"/>
          </a:p>
        </p:txBody>
      </p:sp>
      <p:sp>
        <p:nvSpPr>
          <p:cNvPr id="4" name="Text 2"/>
          <p:cNvSpPr/>
          <p:nvPr/>
        </p:nvSpPr>
        <p:spPr>
          <a:xfrm>
            <a:off x="548640" y="1600200"/>
            <a:ext cx="11064240" cy="777240"/>
          </a:xfrm>
          <a:prstGeom prst="rect">
            <a:avLst/>
          </a:prstGeom>
          <a:noFill/>
          <a:ln/>
        </p:spPr>
        <p:txBody>
          <a:bodyPr wrap="square" rtlCol="0" anchor="ctr"/>
          <a:lstStyle/>
          <a:p>
            <a:pPr indent="0" marL="0">
              <a:lnSpc>
                <a:spcPct val="120000"/>
              </a:lnSpc>
              <a:buNone/>
            </a:pPr>
            <a:r>
              <a:rPr lang="en-US" sz="1500" i="1" dirty="0">
                <a:solidFill>
                  <a:srgbClr val="F5F5F5"/>
                </a:solidFill>
                <a:latin typeface="Calibri" pitchFamily="34" charset="0"/>
                <a:ea typeface="Calibri" pitchFamily="34" charset="-122"/>
                <a:cs typeface="Calibri" pitchFamily="34" charset="-120"/>
              </a:rPr>
              <a:t>Farmer Assist is an AI-powered farming advisory agent built on IBM watsonx.ai and IBM Granite (granite-4-h-small), delivering grounded, real-time agricultural guidance to small-scale Indian farmers.</a:t>
            </a:r>
            <a:endParaRPr lang="en-US" sz="1500" dirty="0"/>
          </a:p>
        </p:txBody>
      </p:sp>
      <p:sp>
        <p:nvSpPr>
          <p:cNvPr id="5" name="Shape 3"/>
          <p:cNvSpPr/>
          <p:nvPr/>
        </p:nvSpPr>
        <p:spPr>
          <a:xfrm>
            <a:off x="548640" y="2606040"/>
            <a:ext cx="2606040" cy="2286000"/>
          </a:xfrm>
          <a:prstGeom prst="roundRect">
            <a:avLst>
              <a:gd name="adj" fmla="val 4000"/>
            </a:avLst>
          </a:prstGeom>
          <a:solidFill>
            <a:srgbClr val="3A6E3B"/>
          </a:solidFill>
          <a:ln/>
        </p:spPr>
      </p:sp>
      <p:sp>
        <p:nvSpPr>
          <p:cNvPr id="6" name="Text 4"/>
          <p:cNvSpPr/>
          <p:nvPr/>
        </p:nvSpPr>
        <p:spPr>
          <a:xfrm>
            <a:off x="731520" y="2743200"/>
            <a:ext cx="1371600" cy="548640"/>
          </a:xfrm>
          <a:prstGeom prst="rect">
            <a:avLst/>
          </a:prstGeom>
          <a:noFill/>
          <a:ln/>
        </p:spPr>
        <p:txBody>
          <a:bodyPr wrap="square" rtlCol="0" anchor="ctr"/>
          <a:lstStyle/>
          <a:p>
            <a:pPr indent="0" marL="0">
              <a:buNone/>
            </a:pPr>
            <a:r>
              <a:rPr lang="en-US" sz="2600" b="1" dirty="0">
                <a:solidFill>
                  <a:srgbClr val="97BC62"/>
                </a:solidFill>
                <a:latin typeface="Cambria" pitchFamily="34" charset="0"/>
                <a:ea typeface="Cambria" pitchFamily="34" charset="-122"/>
                <a:cs typeface="Cambria" pitchFamily="34" charset="-120"/>
              </a:rPr>
              <a:t>01</a:t>
            </a:r>
            <a:endParaRPr lang="en-US" sz="2600" dirty="0"/>
          </a:p>
        </p:txBody>
      </p:sp>
      <p:sp>
        <p:nvSpPr>
          <p:cNvPr id="7" name="Text 5"/>
          <p:cNvSpPr/>
          <p:nvPr/>
        </p:nvSpPr>
        <p:spPr>
          <a:xfrm>
            <a:off x="731520" y="3291840"/>
            <a:ext cx="2240280" cy="4114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Ask</a:t>
            </a:r>
            <a:endParaRPr lang="en-US" sz="1500" dirty="0"/>
          </a:p>
        </p:txBody>
      </p:sp>
      <p:sp>
        <p:nvSpPr>
          <p:cNvPr id="8" name="Text 6"/>
          <p:cNvSpPr/>
          <p:nvPr/>
        </p:nvSpPr>
        <p:spPr>
          <a:xfrm>
            <a:off x="731520" y="3703320"/>
            <a:ext cx="2240280" cy="1097280"/>
          </a:xfrm>
          <a:prstGeom prst="rect">
            <a:avLst/>
          </a:prstGeom>
          <a:noFill/>
          <a:ln/>
        </p:spPr>
        <p:txBody>
          <a:bodyPr wrap="square" rtlCol="0" anchor="ctr"/>
          <a:lstStyle/>
          <a:p>
            <a:pPr indent="0" marL="0">
              <a:lnSpc>
                <a:spcPct val="120000"/>
              </a:lnSpc>
              <a:buNone/>
            </a:pPr>
            <a:r>
              <a:rPr lang="en-US" sz="1100" dirty="0">
                <a:solidFill>
                  <a:srgbClr val="F5F5F5"/>
                </a:solidFill>
                <a:latin typeface="Calibri" pitchFamily="34" charset="0"/>
                <a:ea typeface="Calibri" pitchFamily="34" charset="-122"/>
                <a:cs typeface="Calibri" pitchFamily="34" charset="-120"/>
              </a:rPr>
              <a:t>Farmer asks a question in English, Tamil, or Hindi</a:t>
            </a:r>
            <a:endParaRPr lang="en-US" sz="1100" dirty="0"/>
          </a:p>
        </p:txBody>
      </p:sp>
      <p:sp>
        <p:nvSpPr>
          <p:cNvPr id="9" name="Text 7"/>
          <p:cNvSpPr/>
          <p:nvPr/>
        </p:nvSpPr>
        <p:spPr>
          <a:xfrm>
            <a:off x="3108960" y="3520440"/>
            <a:ext cx="365760" cy="457200"/>
          </a:xfrm>
          <a:prstGeom prst="rect">
            <a:avLst/>
          </a:prstGeom>
          <a:noFill/>
          <a:ln/>
        </p:spPr>
        <p:txBody>
          <a:bodyPr wrap="square" rtlCol="0" anchor="ctr"/>
          <a:lstStyle/>
          <a:p>
            <a:pPr algn="ctr" indent="0" marL="0">
              <a:buNone/>
            </a:pPr>
            <a:r>
              <a:rPr lang="en-US" sz="2000" b="1" dirty="0">
                <a:solidFill>
                  <a:srgbClr val="97BC62"/>
                </a:solidFill>
              </a:rPr>
              <a:t>→</a:t>
            </a:r>
            <a:endParaRPr lang="en-US" sz="2000" dirty="0"/>
          </a:p>
        </p:txBody>
      </p:sp>
      <p:sp>
        <p:nvSpPr>
          <p:cNvPr id="10" name="Shape 8"/>
          <p:cNvSpPr/>
          <p:nvPr/>
        </p:nvSpPr>
        <p:spPr>
          <a:xfrm>
            <a:off x="3383280" y="2606040"/>
            <a:ext cx="2606040" cy="2286000"/>
          </a:xfrm>
          <a:prstGeom prst="roundRect">
            <a:avLst>
              <a:gd name="adj" fmla="val 4000"/>
            </a:avLst>
          </a:prstGeom>
          <a:solidFill>
            <a:srgbClr val="3A6E3B"/>
          </a:solidFill>
          <a:ln/>
        </p:spPr>
      </p:sp>
      <p:sp>
        <p:nvSpPr>
          <p:cNvPr id="11" name="Text 9"/>
          <p:cNvSpPr/>
          <p:nvPr/>
        </p:nvSpPr>
        <p:spPr>
          <a:xfrm>
            <a:off x="3566160" y="2743200"/>
            <a:ext cx="1371600" cy="548640"/>
          </a:xfrm>
          <a:prstGeom prst="rect">
            <a:avLst/>
          </a:prstGeom>
          <a:noFill/>
          <a:ln/>
        </p:spPr>
        <p:txBody>
          <a:bodyPr wrap="square" rtlCol="0" anchor="ctr"/>
          <a:lstStyle/>
          <a:p>
            <a:pPr indent="0" marL="0">
              <a:buNone/>
            </a:pPr>
            <a:r>
              <a:rPr lang="en-US" sz="2600" b="1" dirty="0">
                <a:solidFill>
                  <a:srgbClr val="97BC62"/>
                </a:solidFill>
                <a:latin typeface="Cambria" pitchFamily="34" charset="0"/>
                <a:ea typeface="Cambria" pitchFamily="34" charset="-122"/>
                <a:cs typeface="Cambria" pitchFamily="34" charset="-120"/>
              </a:rPr>
              <a:t>02</a:t>
            </a:r>
            <a:endParaRPr lang="en-US" sz="2600" dirty="0"/>
          </a:p>
        </p:txBody>
      </p:sp>
      <p:sp>
        <p:nvSpPr>
          <p:cNvPr id="12" name="Text 10"/>
          <p:cNvSpPr/>
          <p:nvPr/>
        </p:nvSpPr>
        <p:spPr>
          <a:xfrm>
            <a:off x="3566160" y="3291840"/>
            <a:ext cx="2240280" cy="4114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Retrieve</a:t>
            </a:r>
            <a:endParaRPr lang="en-US" sz="1500" dirty="0"/>
          </a:p>
        </p:txBody>
      </p:sp>
      <p:sp>
        <p:nvSpPr>
          <p:cNvPr id="13" name="Text 11"/>
          <p:cNvSpPr/>
          <p:nvPr/>
        </p:nvSpPr>
        <p:spPr>
          <a:xfrm>
            <a:off x="3566160" y="3703320"/>
            <a:ext cx="2240280" cy="1097280"/>
          </a:xfrm>
          <a:prstGeom prst="rect">
            <a:avLst/>
          </a:prstGeom>
          <a:noFill/>
          <a:ln/>
        </p:spPr>
        <p:txBody>
          <a:bodyPr wrap="square" rtlCol="0" anchor="ctr"/>
          <a:lstStyle/>
          <a:p>
            <a:pPr indent="0" marL="0">
              <a:lnSpc>
                <a:spcPct val="120000"/>
              </a:lnSpc>
              <a:buNone/>
            </a:pPr>
            <a:r>
              <a:rPr lang="en-US" sz="1100" dirty="0">
                <a:solidFill>
                  <a:srgbClr val="F5F5F5"/>
                </a:solidFill>
                <a:latin typeface="Calibri" pitchFamily="34" charset="0"/>
                <a:ea typeface="Calibri" pitchFamily="34" charset="-122"/>
                <a:cs typeface="Calibri" pitchFamily="34" charset="-120"/>
              </a:rPr>
              <a:t>RAG pipeline pulls relevant chunks from the farming knowledge base</a:t>
            </a:r>
            <a:endParaRPr lang="en-US" sz="1100" dirty="0"/>
          </a:p>
        </p:txBody>
      </p:sp>
      <p:sp>
        <p:nvSpPr>
          <p:cNvPr id="14" name="Text 12"/>
          <p:cNvSpPr/>
          <p:nvPr/>
        </p:nvSpPr>
        <p:spPr>
          <a:xfrm>
            <a:off x="5943600" y="3520440"/>
            <a:ext cx="365760" cy="457200"/>
          </a:xfrm>
          <a:prstGeom prst="rect">
            <a:avLst/>
          </a:prstGeom>
          <a:noFill/>
          <a:ln/>
        </p:spPr>
        <p:txBody>
          <a:bodyPr wrap="square" rtlCol="0" anchor="ctr"/>
          <a:lstStyle/>
          <a:p>
            <a:pPr algn="ctr" indent="0" marL="0">
              <a:buNone/>
            </a:pPr>
            <a:r>
              <a:rPr lang="en-US" sz="2000" b="1" dirty="0">
                <a:solidFill>
                  <a:srgbClr val="97BC62"/>
                </a:solidFill>
              </a:rPr>
              <a:t>→</a:t>
            </a:r>
            <a:endParaRPr lang="en-US" sz="2000" dirty="0"/>
          </a:p>
        </p:txBody>
      </p:sp>
      <p:sp>
        <p:nvSpPr>
          <p:cNvPr id="15" name="Shape 13"/>
          <p:cNvSpPr/>
          <p:nvPr/>
        </p:nvSpPr>
        <p:spPr>
          <a:xfrm>
            <a:off x="6217920" y="2606040"/>
            <a:ext cx="2606040" cy="2286000"/>
          </a:xfrm>
          <a:prstGeom prst="roundRect">
            <a:avLst>
              <a:gd name="adj" fmla="val 4000"/>
            </a:avLst>
          </a:prstGeom>
          <a:solidFill>
            <a:srgbClr val="3A6E3B"/>
          </a:solidFill>
          <a:ln/>
        </p:spPr>
      </p:sp>
      <p:sp>
        <p:nvSpPr>
          <p:cNvPr id="16" name="Text 14"/>
          <p:cNvSpPr/>
          <p:nvPr/>
        </p:nvSpPr>
        <p:spPr>
          <a:xfrm>
            <a:off x="6400800" y="2743200"/>
            <a:ext cx="1371600" cy="548640"/>
          </a:xfrm>
          <a:prstGeom prst="rect">
            <a:avLst/>
          </a:prstGeom>
          <a:noFill/>
          <a:ln/>
        </p:spPr>
        <p:txBody>
          <a:bodyPr wrap="square" rtlCol="0" anchor="ctr"/>
          <a:lstStyle/>
          <a:p>
            <a:pPr indent="0" marL="0">
              <a:buNone/>
            </a:pPr>
            <a:r>
              <a:rPr lang="en-US" sz="2600" b="1" dirty="0">
                <a:solidFill>
                  <a:srgbClr val="97BC62"/>
                </a:solidFill>
                <a:latin typeface="Cambria" pitchFamily="34" charset="0"/>
                <a:ea typeface="Cambria" pitchFamily="34" charset="-122"/>
                <a:cs typeface="Cambria" pitchFamily="34" charset="-120"/>
              </a:rPr>
              <a:t>03</a:t>
            </a:r>
            <a:endParaRPr lang="en-US" sz="2600" dirty="0"/>
          </a:p>
        </p:txBody>
      </p:sp>
      <p:sp>
        <p:nvSpPr>
          <p:cNvPr id="17" name="Text 15"/>
          <p:cNvSpPr/>
          <p:nvPr/>
        </p:nvSpPr>
        <p:spPr>
          <a:xfrm>
            <a:off x="6400800" y="3291840"/>
            <a:ext cx="2240280" cy="4114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Ground</a:t>
            </a:r>
            <a:endParaRPr lang="en-US" sz="1500" dirty="0"/>
          </a:p>
        </p:txBody>
      </p:sp>
      <p:sp>
        <p:nvSpPr>
          <p:cNvPr id="18" name="Text 16"/>
          <p:cNvSpPr/>
          <p:nvPr/>
        </p:nvSpPr>
        <p:spPr>
          <a:xfrm>
            <a:off x="6400800" y="3703320"/>
            <a:ext cx="2240280" cy="1097280"/>
          </a:xfrm>
          <a:prstGeom prst="rect">
            <a:avLst/>
          </a:prstGeom>
          <a:noFill/>
          <a:ln/>
        </p:spPr>
        <p:txBody>
          <a:bodyPr wrap="square" rtlCol="0" anchor="ctr"/>
          <a:lstStyle/>
          <a:p>
            <a:pPr indent="0" marL="0">
              <a:lnSpc>
                <a:spcPct val="120000"/>
              </a:lnSpc>
              <a:buNone/>
            </a:pPr>
            <a:r>
              <a:rPr lang="en-US" sz="1100" dirty="0">
                <a:solidFill>
                  <a:srgbClr val="F5F5F5"/>
                </a:solidFill>
                <a:latin typeface="Calibri" pitchFamily="34" charset="0"/>
                <a:ea typeface="Calibri" pitchFamily="34" charset="-122"/>
                <a:cs typeface="Calibri" pitchFamily="34" charset="-120"/>
              </a:rPr>
              <a:t>Retrieved context + question combined into a structured prompt</a:t>
            </a:r>
            <a:endParaRPr lang="en-US" sz="1100" dirty="0"/>
          </a:p>
        </p:txBody>
      </p:sp>
      <p:sp>
        <p:nvSpPr>
          <p:cNvPr id="19" name="Text 17"/>
          <p:cNvSpPr/>
          <p:nvPr/>
        </p:nvSpPr>
        <p:spPr>
          <a:xfrm>
            <a:off x="8778240" y="3520440"/>
            <a:ext cx="365760" cy="457200"/>
          </a:xfrm>
          <a:prstGeom prst="rect">
            <a:avLst/>
          </a:prstGeom>
          <a:noFill/>
          <a:ln/>
        </p:spPr>
        <p:txBody>
          <a:bodyPr wrap="square" rtlCol="0" anchor="ctr"/>
          <a:lstStyle/>
          <a:p>
            <a:pPr algn="ctr" indent="0" marL="0">
              <a:buNone/>
            </a:pPr>
            <a:r>
              <a:rPr lang="en-US" sz="2000" b="1" dirty="0">
                <a:solidFill>
                  <a:srgbClr val="97BC62"/>
                </a:solidFill>
              </a:rPr>
              <a:t>→</a:t>
            </a:r>
            <a:endParaRPr lang="en-US" sz="2000" dirty="0"/>
          </a:p>
        </p:txBody>
      </p:sp>
      <p:sp>
        <p:nvSpPr>
          <p:cNvPr id="20" name="Shape 18"/>
          <p:cNvSpPr/>
          <p:nvPr/>
        </p:nvSpPr>
        <p:spPr>
          <a:xfrm>
            <a:off x="9052560" y="2606040"/>
            <a:ext cx="2606040" cy="2286000"/>
          </a:xfrm>
          <a:prstGeom prst="roundRect">
            <a:avLst>
              <a:gd name="adj" fmla="val 4000"/>
            </a:avLst>
          </a:prstGeom>
          <a:solidFill>
            <a:srgbClr val="3A6E3B"/>
          </a:solidFill>
          <a:ln/>
        </p:spPr>
      </p:sp>
      <p:sp>
        <p:nvSpPr>
          <p:cNvPr id="21" name="Text 19"/>
          <p:cNvSpPr/>
          <p:nvPr/>
        </p:nvSpPr>
        <p:spPr>
          <a:xfrm>
            <a:off x="9235440" y="2743200"/>
            <a:ext cx="1371600" cy="548640"/>
          </a:xfrm>
          <a:prstGeom prst="rect">
            <a:avLst/>
          </a:prstGeom>
          <a:noFill/>
          <a:ln/>
        </p:spPr>
        <p:txBody>
          <a:bodyPr wrap="square" rtlCol="0" anchor="ctr"/>
          <a:lstStyle/>
          <a:p>
            <a:pPr indent="0" marL="0">
              <a:buNone/>
            </a:pPr>
            <a:r>
              <a:rPr lang="en-US" sz="2600" b="1" dirty="0">
                <a:solidFill>
                  <a:srgbClr val="97BC62"/>
                </a:solidFill>
                <a:latin typeface="Cambria" pitchFamily="34" charset="0"/>
                <a:ea typeface="Cambria" pitchFamily="34" charset="-122"/>
                <a:cs typeface="Cambria" pitchFamily="34" charset="-120"/>
              </a:rPr>
              <a:t>04</a:t>
            </a:r>
            <a:endParaRPr lang="en-US" sz="2600" dirty="0"/>
          </a:p>
        </p:txBody>
      </p:sp>
      <p:sp>
        <p:nvSpPr>
          <p:cNvPr id="22" name="Text 20"/>
          <p:cNvSpPr/>
          <p:nvPr/>
        </p:nvSpPr>
        <p:spPr>
          <a:xfrm>
            <a:off x="9235440" y="3291840"/>
            <a:ext cx="2240280" cy="4114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Generate</a:t>
            </a:r>
            <a:endParaRPr lang="en-US" sz="1500" dirty="0"/>
          </a:p>
        </p:txBody>
      </p:sp>
      <p:sp>
        <p:nvSpPr>
          <p:cNvPr id="23" name="Text 21"/>
          <p:cNvSpPr/>
          <p:nvPr/>
        </p:nvSpPr>
        <p:spPr>
          <a:xfrm>
            <a:off x="9235440" y="3703320"/>
            <a:ext cx="2240280" cy="1097280"/>
          </a:xfrm>
          <a:prstGeom prst="rect">
            <a:avLst/>
          </a:prstGeom>
          <a:noFill/>
          <a:ln/>
        </p:spPr>
        <p:txBody>
          <a:bodyPr wrap="square" rtlCol="0" anchor="ctr"/>
          <a:lstStyle/>
          <a:p>
            <a:pPr indent="0" marL="0">
              <a:lnSpc>
                <a:spcPct val="120000"/>
              </a:lnSpc>
              <a:buNone/>
            </a:pPr>
            <a:r>
              <a:rPr lang="en-US" sz="1100" dirty="0">
                <a:solidFill>
                  <a:srgbClr val="F5F5F5"/>
                </a:solidFill>
                <a:latin typeface="Calibri" pitchFamily="34" charset="0"/>
                <a:ea typeface="Calibri" pitchFamily="34" charset="-122"/>
                <a:cs typeface="Calibri" pitchFamily="34" charset="-120"/>
              </a:rPr>
              <a:t>Granite model produces an accurate, cited answer in the farmer's language</a:t>
            </a:r>
            <a:endParaRPr lang="en-US" sz="1100" dirty="0"/>
          </a:p>
        </p:txBody>
      </p:sp>
      <p:sp>
        <p:nvSpPr>
          <p:cNvPr id="24" name="Text 22"/>
          <p:cNvSpPr/>
          <p:nvPr/>
        </p:nvSpPr>
        <p:spPr>
          <a:xfrm>
            <a:off x="548640" y="5166360"/>
            <a:ext cx="11064240" cy="640080"/>
          </a:xfrm>
          <a:prstGeom prst="rect">
            <a:avLst/>
          </a:prstGeom>
          <a:noFill/>
          <a:ln/>
        </p:spPr>
        <p:txBody>
          <a:bodyPr wrap="square" rtlCol="0" anchor="ctr"/>
          <a:lstStyle/>
          <a:p>
            <a:pPr indent="0" marL="0">
              <a:buNone/>
            </a:pPr>
            <a:r>
              <a:rPr lang="en-US" sz="1250" i="1" dirty="0">
                <a:solidFill>
                  <a:srgbClr val="97BC62"/>
                </a:solidFill>
                <a:latin typeface="Calibri" pitchFamily="34" charset="0"/>
                <a:ea typeface="Calibri" pitchFamily="34" charset="-122"/>
                <a:cs typeface="Calibri" pitchFamily="34" charset="-120"/>
              </a:rPr>
              <a:t>Verified through iterative testing to correctly answer real farmer questions — and to honestly decline rather than fabricate an answer when data isn't available.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65760"/>
          </a:xfrm>
          <a:prstGeom prst="rect">
            <a:avLst/>
          </a:prstGeom>
          <a:noFill/>
          <a:ln/>
        </p:spPr>
        <p:txBody>
          <a:bodyPr wrap="square" rtlCol="0" anchor="ctr"/>
          <a:lstStyle/>
          <a:p>
            <a:pPr indent="0" marL="0">
              <a:buNone/>
            </a:pPr>
            <a:r>
              <a:rPr lang="en-US" sz="1300" b="1" spc="200" kern="0" dirty="0">
                <a:solidFill>
                  <a:srgbClr val="97BC62"/>
                </a:solidFill>
                <a:latin typeface="Calibri" pitchFamily="34" charset="0"/>
                <a:ea typeface="Calibri" pitchFamily="34" charset="-122"/>
                <a:cs typeface="Calibri" pitchFamily="34" charset="-120"/>
              </a:rPr>
              <a:t>04  —  THE STACK</a:t>
            </a:r>
            <a:endParaRPr lang="en-US" sz="1300" dirty="0"/>
          </a:p>
        </p:txBody>
      </p:sp>
      <p:sp>
        <p:nvSpPr>
          <p:cNvPr id="3" name="Text 1"/>
          <p:cNvSpPr/>
          <p:nvPr/>
        </p:nvSpPr>
        <p:spPr>
          <a:xfrm>
            <a:off x="548640" y="640080"/>
            <a:ext cx="11064240" cy="822960"/>
          </a:xfrm>
          <a:prstGeom prst="rect">
            <a:avLst/>
          </a:prstGeom>
          <a:noFill/>
          <a:ln/>
        </p:spPr>
        <p:txBody>
          <a:bodyPr wrap="square" rtlCol="0" anchor="ctr"/>
          <a:lstStyle/>
          <a:p>
            <a:pPr indent="0" marL="0">
              <a:buNone/>
            </a:pPr>
            <a:r>
              <a:rPr lang="en-US" sz="3200" b="1" dirty="0">
                <a:solidFill>
                  <a:srgbClr val="2C5F2D"/>
                </a:solidFill>
                <a:latin typeface="Cambria" pitchFamily="34" charset="0"/>
                <a:ea typeface="Cambria" pitchFamily="34" charset="-122"/>
                <a:cs typeface="Cambria" pitchFamily="34" charset="-120"/>
              </a:rPr>
              <a:t>Technology Used</a:t>
            </a:r>
            <a:endParaRPr lang="en-US" sz="3200" dirty="0"/>
          </a:p>
        </p:txBody>
      </p:sp>
      <p:sp>
        <p:nvSpPr>
          <p:cNvPr id="4" name="Shape 2"/>
          <p:cNvSpPr/>
          <p:nvPr/>
        </p:nvSpPr>
        <p:spPr>
          <a:xfrm>
            <a:off x="548640" y="1783080"/>
            <a:ext cx="3520440" cy="1325880"/>
          </a:xfrm>
          <a:prstGeom prst="roundRect">
            <a:avLst>
              <a:gd name="adj" fmla="val 6897"/>
            </a:avLst>
          </a:prstGeom>
          <a:solidFill>
            <a:srgbClr val="2C5F2D"/>
          </a:solidFill>
          <a:ln/>
        </p:spPr>
      </p:sp>
      <p:sp>
        <p:nvSpPr>
          <p:cNvPr id="5" name="Text 3"/>
          <p:cNvSpPr/>
          <p:nvPr/>
        </p:nvSpPr>
        <p:spPr>
          <a:xfrm>
            <a:off x="749808" y="1929384"/>
            <a:ext cx="3108960" cy="502920"/>
          </a:xfrm>
          <a:prstGeom prst="rect">
            <a:avLst/>
          </a:prstGeom>
          <a:noFill/>
          <a:ln/>
        </p:spPr>
        <p:txBody>
          <a:bodyPr wrap="square" rtlCol="0" anchor="ctr"/>
          <a:lstStyle/>
          <a:p>
            <a:pPr indent="0" marL="0">
              <a:buNone/>
            </a:pPr>
            <a:r>
              <a:rPr lang="en-US" sz="1400" b="1" dirty="0">
                <a:solidFill>
                  <a:srgbClr val="97BC62"/>
                </a:solidFill>
                <a:latin typeface="Calibri" pitchFamily="34" charset="0"/>
                <a:ea typeface="Calibri" pitchFamily="34" charset="-122"/>
                <a:cs typeface="Calibri" pitchFamily="34" charset="-120"/>
              </a:rPr>
              <a:t>LangFlow platform</a:t>
            </a:r>
            <a:endParaRPr lang="en-US" sz="1400" dirty="0"/>
          </a:p>
        </p:txBody>
      </p:sp>
      <p:sp>
        <p:nvSpPr>
          <p:cNvPr id="6" name="Text 4"/>
          <p:cNvSpPr/>
          <p:nvPr/>
        </p:nvSpPr>
        <p:spPr>
          <a:xfrm>
            <a:off x="749808" y="2404872"/>
            <a:ext cx="3108960" cy="640080"/>
          </a:xfrm>
          <a:prstGeom prst="rect">
            <a:avLst/>
          </a:prstGeom>
          <a:noFill/>
          <a:ln/>
        </p:spPr>
        <p:txBody>
          <a:bodyPr wrap="square" rtlCol="0" anchor="ctr"/>
          <a:lstStyle/>
          <a:p>
            <a:pPr indent="0" marL="0">
              <a:lnSpc>
                <a:spcPct val="115000"/>
              </a:lnSpc>
              <a:buNone/>
            </a:pPr>
            <a:r>
              <a:rPr lang="en-US" sz="1050" dirty="0">
                <a:solidFill>
                  <a:srgbClr val="F5F5F5"/>
                </a:solidFill>
                <a:latin typeface="Calibri" pitchFamily="34" charset="0"/>
                <a:ea typeface="Calibri" pitchFamily="34" charset="-122"/>
                <a:cs typeface="Calibri" pitchFamily="34" charset="-120"/>
              </a:rPr>
              <a:t>For designing and orchestrating the RAG workflow visually</a:t>
            </a:r>
            <a:endParaRPr lang="en-US" sz="1050" dirty="0"/>
          </a:p>
        </p:txBody>
      </p:sp>
      <p:sp>
        <p:nvSpPr>
          <p:cNvPr id="7" name="Shape 5"/>
          <p:cNvSpPr/>
          <p:nvPr/>
        </p:nvSpPr>
        <p:spPr>
          <a:xfrm>
            <a:off x="4233672" y="1783080"/>
            <a:ext cx="3520440" cy="1325880"/>
          </a:xfrm>
          <a:prstGeom prst="roundRect">
            <a:avLst>
              <a:gd name="adj" fmla="val 6897"/>
            </a:avLst>
          </a:prstGeom>
          <a:solidFill>
            <a:srgbClr val="2C5F2D"/>
          </a:solidFill>
          <a:ln/>
        </p:spPr>
      </p:sp>
      <p:sp>
        <p:nvSpPr>
          <p:cNvPr id="8" name="Text 6"/>
          <p:cNvSpPr/>
          <p:nvPr/>
        </p:nvSpPr>
        <p:spPr>
          <a:xfrm>
            <a:off x="4434840" y="1929384"/>
            <a:ext cx="3108960" cy="502920"/>
          </a:xfrm>
          <a:prstGeom prst="rect">
            <a:avLst/>
          </a:prstGeom>
          <a:noFill/>
          <a:ln/>
        </p:spPr>
        <p:txBody>
          <a:bodyPr wrap="square" rtlCol="0" anchor="ctr"/>
          <a:lstStyle/>
          <a:p>
            <a:pPr indent="0" marL="0">
              <a:buNone/>
            </a:pPr>
            <a:r>
              <a:rPr lang="en-US" sz="1400" b="1" dirty="0">
                <a:solidFill>
                  <a:srgbClr val="97BC62"/>
                </a:solidFill>
                <a:latin typeface="Calibri" pitchFamily="34" charset="0"/>
                <a:ea typeface="Calibri" pitchFamily="34" charset="-122"/>
                <a:cs typeface="Calibri" pitchFamily="34" charset="-120"/>
              </a:rPr>
              <a:t>IBM Granite model</a:t>
            </a:r>
            <a:endParaRPr lang="en-US" sz="1400" dirty="0"/>
          </a:p>
        </p:txBody>
      </p:sp>
      <p:sp>
        <p:nvSpPr>
          <p:cNvPr id="9" name="Text 7"/>
          <p:cNvSpPr/>
          <p:nvPr/>
        </p:nvSpPr>
        <p:spPr>
          <a:xfrm>
            <a:off x="4434840" y="2404872"/>
            <a:ext cx="3108960" cy="640080"/>
          </a:xfrm>
          <a:prstGeom prst="rect">
            <a:avLst/>
          </a:prstGeom>
          <a:noFill/>
          <a:ln/>
        </p:spPr>
        <p:txBody>
          <a:bodyPr wrap="square" rtlCol="0" anchor="ctr"/>
          <a:lstStyle/>
          <a:p>
            <a:pPr indent="0" marL="0">
              <a:lnSpc>
                <a:spcPct val="115000"/>
              </a:lnSpc>
              <a:buNone/>
            </a:pPr>
            <a:r>
              <a:rPr lang="en-US" sz="1050" dirty="0">
                <a:solidFill>
                  <a:srgbClr val="F5F5F5"/>
                </a:solidFill>
                <a:latin typeface="Calibri" pitchFamily="34" charset="0"/>
                <a:ea typeface="Calibri" pitchFamily="34" charset="-122"/>
                <a:cs typeface="Calibri" pitchFamily="34" charset="-120"/>
              </a:rPr>
              <a:t>granite-4-h-small — fast, grounded generation</a:t>
            </a:r>
            <a:endParaRPr lang="en-US" sz="1050" dirty="0"/>
          </a:p>
        </p:txBody>
      </p:sp>
      <p:sp>
        <p:nvSpPr>
          <p:cNvPr id="10" name="Shape 8"/>
          <p:cNvSpPr/>
          <p:nvPr/>
        </p:nvSpPr>
        <p:spPr>
          <a:xfrm>
            <a:off x="7918704" y="1783080"/>
            <a:ext cx="3520440" cy="1325880"/>
          </a:xfrm>
          <a:prstGeom prst="roundRect">
            <a:avLst>
              <a:gd name="adj" fmla="val 6897"/>
            </a:avLst>
          </a:prstGeom>
          <a:solidFill>
            <a:srgbClr val="2C5F2D"/>
          </a:solidFill>
          <a:ln/>
        </p:spPr>
      </p:sp>
      <p:sp>
        <p:nvSpPr>
          <p:cNvPr id="11" name="Text 9"/>
          <p:cNvSpPr/>
          <p:nvPr/>
        </p:nvSpPr>
        <p:spPr>
          <a:xfrm>
            <a:off x="8119872" y="1929384"/>
            <a:ext cx="3108960" cy="502920"/>
          </a:xfrm>
          <a:prstGeom prst="rect">
            <a:avLst/>
          </a:prstGeom>
          <a:noFill/>
          <a:ln/>
        </p:spPr>
        <p:txBody>
          <a:bodyPr wrap="square" rtlCol="0" anchor="ctr"/>
          <a:lstStyle/>
          <a:p>
            <a:pPr indent="0" marL="0">
              <a:buNone/>
            </a:pPr>
            <a:r>
              <a:rPr lang="en-US" sz="1400" b="1" dirty="0">
                <a:solidFill>
                  <a:srgbClr val="97BC62"/>
                </a:solidFill>
                <a:latin typeface="Calibri" pitchFamily="34" charset="0"/>
                <a:ea typeface="Calibri" pitchFamily="34" charset="-122"/>
                <a:cs typeface="Calibri" pitchFamily="34" charset="-120"/>
              </a:rPr>
              <a:t>IBM Cloud</a:t>
            </a:r>
            <a:endParaRPr lang="en-US" sz="1400" dirty="0"/>
          </a:p>
        </p:txBody>
      </p:sp>
      <p:sp>
        <p:nvSpPr>
          <p:cNvPr id="12" name="Text 10"/>
          <p:cNvSpPr/>
          <p:nvPr/>
        </p:nvSpPr>
        <p:spPr>
          <a:xfrm>
            <a:off x="8119872" y="2404872"/>
            <a:ext cx="3108960" cy="640080"/>
          </a:xfrm>
          <a:prstGeom prst="rect">
            <a:avLst/>
          </a:prstGeom>
          <a:noFill/>
          <a:ln/>
        </p:spPr>
        <p:txBody>
          <a:bodyPr wrap="square" rtlCol="0" anchor="ctr"/>
          <a:lstStyle/>
          <a:p>
            <a:pPr indent="0" marL="0">
              <a:lnSpc>
                <a:spcPct val="115000"/>
              </a:lnSpc>
              <a:buNone/>
            </a:pPr>
            <a:r>
              <a:rPr lang="en-US" sz="1050" dirty="0">
                <a:solidFill>
                  <a:srgbClr val="F5F5F5"/>
                </a:solidFill>
                <a:latin typeface="Calibri" pitchFamily="34" charset="0"/>
                <a:ea typeface="Calibri" pitchFamily="34" charset="-122"/>
                <a:cs typeface="Calibri" pitchFamily="34" charset="-120"/>
              </a:rPr>
              <a:t>Reliable, secure, scalable infrastructure to build and deploy</a:t>
            </a:r>
            <a:endParaRPr lang="en-US" sz="1050" dirty="0"/>
          </a:p>
        </p:txBody>
      </p:sp>
      <p:sp>
        <p:nvSpPr>
          <p:cNvPr id="13" name="Shape 11"/>
          <p:cNvSpPr/>
          <p:nvPr/>
        </p:nvSpPr>
        <p:spPr>
          <a:xfrm>
            <a:off x="548640" y="3246120"/>
            <a:ext cx="3520440" cy="1325880"/>
          </a:xfrm>
          <a:prstGeom prst="roundRect">
            <a:avLst>
              <a:gd name="adj" fmla="val 6897"/>
            </a:avLst>
          </a:prstGeom>
          <a:solidFill>
            <a:srgbClr val="2C5F2D"/>
          </a:solidFill>
          <a:ln/>
        </p:spPr>
      </p:sp>
      <p:sp>
        <p:nvSpPr>
          <p:cNvPr id="14" name="Text 12"/>
          <p:cNvSpPr/>
          <p:nvPr/>
        </p:nvSpPr>
        <p:spPr>
          <a:xfrm>
            <a:off x="749808" y="3392424"/>
            <a:ext cx="3108960" cy="502920"/>
          </a:xfrm>
          <a:prstGeom prst="rect">
            <a:avLst/>
          </a:prstGeom>
          <a:noFill/>
          <a:ln/>
        </p:spPr>
        <p:txBody>
          <a:bodyPr wrap="square" rtlCol="0" anchor="ctr"/>
          <a:lstStyle/>
          <a:p>
            <a:pPr indent="0" marL="0">
              <a:buNone/>
            </a:pPr>
            <a:r>
              <a:rPr lang="en-US" sz="1400" b="1" dirty="0">
                <a:solidFill>
                  <a:srgbClr val="97BC62"/>
                </a:solidFill>
                <a:latin typeface="Calibri" pitchFamily="34" charset="0"/>
                <a:ea typeface="Calibri" pitchFamily="34" charset="-122"/>
                <a:cs typeface="Calibri" pitchFamily="34" charset="-120"/>
              </a:rPr>
              <a:t>RAG</a:t>
            </a:r>
            <a:endParaRPr lang="en-US" sz="1400" dirty="0"/>
          </a:p>
        </p:txBody>
      </p:sp>
      <p:sp>
        <p:nvSpPr>
          <p:cNvPr id="15" name="Text 13"/>
          <p:cNvSpPr/>
          <p:nvPr/>
        </p:nvSpPr>
        <p:spPr>
          <a:xfrm>
            <a:off x="749808" y="3867912"/>
            <a:ext cx="3108960" cy="640080"/>
          </a:xfrm>
          <a:prstGeom prst="rect">
            <a:avLst/>
          </a:prstGeom>
          <a:noFill/>
          <a:ln/>
        </p:spPr>
        <p:txBody>
          <a:bodyPr wrap="square" rtlCol="0" anchor="ctr"/>
          <a:lstStyle/>
          <a:p>
            <a:pPr indent="0" marL="0">
              <a:lnSpc>
                <a:spcPct val="115000"/>
              </a:lnSpc>
              <a:buNone/>
            </a:pPr>
            <a:r>
              <a:rPr lang="en-US" sz="1050" dirty="0">
                <a:solidFill>
                  <a:srgbClr val="F5F5F5"/>
                </a:solidFill>
                <a:latin typeface="Calibri" pitchFamily="34" charset="0"/>
                <a:ea typeface="Calibri" pitchFamily="34" charset="-122"/>
                <a:cs typeface="Calibri" pitchFamily="34" charset="-120"/>
              </a:rPr>
              <a:t>Fetches real data first, then generates grounded answers</a:t>
            </a:r>
            <a:endParaRPr lang="en-US" sz="1050" dirty="0"/>
          </a:p>
        </p:txBody>
      </p:sp>
      <p:sp>
        <p:nvSpPr>
          <p:cNvPr id="16" name="Shape 14"/>
          <p:cNvSpPr/>
          <p:nvPr/>
        </p:nvSpPr>
        <p:spPr>
          <a:xfrm>
            <a:off x="4233672" y="3246120"/>
            <a:ext cx="3520440" cy="1325880"/>
          </a:xfrm>
          <a:prstGeom prst="roundRect">
            <a:avLst>
              <a:gd name="adj" fmla="val 6897"/>
            </a:avLst>
          </a:prstGeom>
          <a:solidFill>
            <a:srgbClr val="2C5F2D"/>
          </a:solidFill>
          <a:ln/>
        </p:spPr>
      </p:sp>
      <p:sp>
        <p:nvSpPr>
          <p:cNvPr id="17" name="Text 15"/>
          <p:cNvSpPr/>
          <p:nvPr/>
        </p:nvSpPr>
        <p:spPr>
          <a:xfrm>
            <a:off x="4434840" y="3392424"/>
            <a:ext cx="3108960" cy="502920"/>
          </a:xfrm>
          <a:prstGeom prst="rect">
            <a:avLst/>
          </a:prstGeom>
          <a:noFill/>
          <a:ln/>
        </p:spPr>
        <p:txBody>
          <a:bodyPr wrap="square" rtlCol="0" anchor="ctr"/>
          <a:lstStyle/>
          <a:p>
            <a:pPr indent="0" marL="0">
              <a:buNone/>
            </a:pPr>
            <a:r>
              <a:rPr lang="en-US" sz="1400" b="1" dirty="0">
                <a:solidFill>
                  <a:srgbClr val="97BC62"/>
                </a:solidFill>
                <a:latin typeface="Calibri" pitchFamily="34" charset="0"/>
                <a:ea typeface="Calibri" pitchFamily="34" charset="-122"/>
                <a:cs typeface="Calibri" pitchFamily="34" charset="-120"/>
              </a:rPr>
              <a:t>IBM watsonx.ai</a:t>
            </a:r>
            <a:endParaRPr lang="en-US" sz="1400" dirty="0"/>
          </a:p>
        </p:txBody>
      </p:sp>
      <p:sp>
        <p:nvSpPr>
          <p:cNvPr id="18" name="Text 16"/>
          <p:cNvSpPr/>
          <p:nvPr/>
        </p:nvSpPr>
        <p:spPr>
          <a:xfrm>
            <a:off x="4434840" y="3867912"/>
            <a:ext cx="3108960" cy="640080"/>
          </a:xfrm>
          <a:prstGeom prst="rect">
            <a:avLst/>
          </a:prstGeom>
          <a:noFill/>
          <a:ln/>
        </p:spPr>
        <p:txBody>
          <a:bodyPr wrap="square" rtlCol="0" anchor="ctr"/>
          <a:lstStyle/>
          <a:p>
            <a:pPr indent="0" marL="0">
              <a:lnSpc>
                <a:spcPct val="115000"/>
              </a:lnSpc>
              <a:buNone/>
            </a:pPr>
            <a:r>
              <a:rPr lang="en-US" sz="1050" dirty="0">
                <a:solidFill>
                  <a:srgbClr val="F5F5F5"/>
                </a:solidFill>
                <a:latin typeface="Calibri" pitchFamily="34" charset="0"/>
                <a:ea typeface="Calibri" pitchFamily="34" charset="-122"/>
                <a:cs typeface="Calibri" pitchFamily="34" charset="-120"/>
              </a:rPr>
              <a:t>Model access, embeddings integration, AI governance</a:t>
            </a:r>
            <a:endParaRPr lang="en-US" sz="1050" dirty="0"/>
          </a:p>
        </p:txBody>
      </p:sp>
      <p:sp>
        <p:nvSpPr>
          <p:cNvPr id="19" name="Shape 17"/>
          <p:cNvSpPr/>
          <p:nvPr/>
        </p:nvSpPr>
        <p:spPr>
          <a:xfrm>
            <a:off x="7918704" y="3246120"/>
            <a:ext cx="3520440" cy="1325880"/>
          </a:xfrm>
          <a:prstGeom prst="roundRect">
            <a:avLst>
              <a:gd name="adj" fmla="val 6897"/>
            </a:avLst>
          </a:prstGeom>
          <a:solidFill>
            <a:srgbClr val="2C5F2D"/>
          </a:solidFill>
          <a:ln/>
        </p:spPr>
      </p:sp>
      <p:sp>
        <p:nvSpPr>
          <p:cNvPr id="20" name="Text 18"/>
          <p:cNvSpPr/>
          <p:nvPr/>
        </p:nvSpPr>
        <p:spPr>
          <a:xfrm>
            <a:off x="8119872" y="3392424"/>
            <a:ext cx="3108960" cy="502920"/>
          </a:xfrm>
          <a:prstGeom prst="rect">
            <a:avLst/>
          </a:prstGeom>
          <a:noFill/>
          <a:ln/>
        </p:spPr>
        <p:txBody>
          <a:bodyPr wrap="square" rtlCol="0" anchor="ctr"/>
          <a:lstStyle/>
          <a:p>
            <a:pPr indent="0" marL="0">
              <a:buNone/>
            </a:pPr>
            <a:r>
              <a:rPr lang="en-US" sz="1400" b="1" dirty="0">
                <a:solidFill>
                  <a:srgbClr val="97BC62"/>
                </a:solidFill>
                <a:latin typeface="Calibri" pitchFamily="34" charset="0"/>
                <a:ea typeface="Calibri" pitchFamily="34" charset="-122"/>
                <a:cs typeface="Calibri" pitchFamily="34" charset="-120"/>
              </a:rPr>
              <a:t>Vector Database (FAISS)</a:t>
            </a:r>
            <a:endParaRPr lang="en-US" sz="1400" dirty="0"/>
          </a:p>
        </p:txBody>
      </p:sp>
      <p:sp>
        <p:nvSpPr>
          <p:cNvPr id="21" name="Text 19"/>
          <p:cNvSpPr/>
          <p:nvPr/>
        </p:nvSpPr>
        <p:spPr>
          <a:xfrm>
            <a:off x="8119872" y="3867912"/>
            <a:ext cx="3108960" cy="640080"/>
          </a:xfrm>
          <a:prstGeom prst="rect">
            <a:avLst/>
          </a:prstGeom>
          <a:noFill/>
          <a:ln/>
        </p:spPr>
        <p:txBody>
          <a:bodyPr wrap="square" rtlCol="0" anchor="ctr"/>
          <a:lstStyle/>
          <a:p>
            <a:pPr indent="0" marL="0">
              <a:lnSpc>
                <a:spcPct val="115000"/>
              </a:lnSpc>
              <a:buNone/>
            </a:pPr>
            <a:r>
              <a:rPr lang="en-US" sz="1050" dirty="0">
                <a:solidFill>
                  <a:srgbClr val="F5F5F5"/>
                </a:solidFill>
                <a:latin typeface="Calibri" pitchFamily="34" charset="0"/>
                <a:ea typeface="Calibri" pitchFamily="34" charset="-122"/>
                <a:cs typeface="Calibri" pitchFamily="34" charset="-120"/>
              </a:rPr>
              <a:t>Fast semantic retrieval across the farming knowledge base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65760"/>
          </a:xfrm>
          <a:prstGeom prst="rect">
            <a:avLst/>
          </a:prstGeom>
          <a:noFill/>
          <a:ln/>
        </p:spPr>
        <p:txBody>
          <a:bodyPr wrap="square" rtlCol="0" anchor="ctr"/>
          <a:lstStyle/>
          <a:p>
            <a:pPr indent="0" marL="0">
              <a:buNone/>
            </a:pPr>
            <a:r>
              <a:rPr lang="en-US" sz="1300" b="1" spc="200" kern="0" dirty="0">
                <a:solidFill>
                  <a:srgbClr val="97BC62"/>
                </a:solidFill>
                <a:latin typeface="Calibri" pitchFamily="34" charset="0"/>
                <a:ea typeface="Calibri" pitchFamily="34" charset="-122"/>
                <a:cs typeface="Calibri" pitchFamily="34" charset="-120"/>
              </a:rPr>
              <a:t>05  —  INSIDE THE WORKFLOW</a:t>
            </a:r>
            <a:endParaRPr lang="en-US" sz="1300" dirty="0"/>
          </a:p>
        </p:txBody>
      </p:sp>
      <p:sp>
        <p:nvSpPr>
          <p:cNvPr id="3" name="Text 1"/>
          <p:cNvSpPr/>
          <p:nvPr/>
        </p:nvSpPr>
        <p:spPr>
          <a:xfrm>
            <a:off x="548640" y="640080"/>
            <a:ext cx="11064240" cy="822960"/>
          </a:xfrm>
          <a:prstGeom prst="rect">
            <a:avLst/>
          </a:prstGeom>
          <a:noFill/>
          <a:ln/>
        </p:spPr>
        <p:txBody>
          <a:bodyPr wrap="square" rtlCol="0" anchor="ctr"/>
          <a:lstStyle/>
          <a:p>
            <a:pPr indent="0" marL="0">
              <a:buNone/>
            </a:pPr>
            <a:r>
              <a:rPr lang="en-US" sz="3200" b="1" dirty="0">
                <a:solidFill>
                  <a:srgbClr val="2C5F2D"/>
                </a:solidFill>
                <a:latin typeface="Cambria" pitchFamily="34" charset="0"/>
                <a:ea typeface="Cambria" pitchFamily="34" charset="-122"/>
                <a:cs typeface="Cambria" pitchFamily="34" charset="-120"/>
              </a:rPr>
              <a:t>LangFlow Components Used</a:t>
            </a:r>
            <a:endParaRPr lang="en-US" sz="3200" dirty="0"/>
          </a:p>
        </p:txBody>
      </p:sp>
      <p:sp>
        <p:nvSpPr>
          <p:cNvPr id="4" name="Shape 2"/>
          <p:cNvSpPr/>
          <p:nvPr/>
        </p:nvSpPr>
        <p:spPr>
          <a:xfrm>
            <a:off x="548640" y="1783080"/>
            <a:ext cx="457200" cy="457200"/>
          </a:xfrm>
          <a:prstGeom prst="roundRect">
            <a:avLst>
              <a:gd name="adj" fmla="val 50000"/>
            </a:avLst>
          </a:prstGeom>
          <a:solidFill>
            <a:srgbClr val="97BC62"/>
          </a:solidFill>
          <a:ln/>
        </p:spPr>
      </p:sp>
      <p:sp>
        <p:nvSpPr>
          <p:cNvPr id="5" name="Text 3"/>
          <p:cNvSpPr/>
          <p:nvPr/>
        </p:nvSpPr>
        <p:spPr>
          <a:xfrm>
            <a:off x="548640" y="1783080"/>
            <a:ext cx="457200" cy="457200"/>
          </a:xfrm>
          <a:prstGeom prst="rect">
            <a:avLst/>
          </a:prstGeom>
          <a:noFill/>
          <a:ln/>
        </p:spPr>
        <p:txBody>
          <a:bodyPr wrap="square" rtlCol="0" anchor="ctr"/>
          <a:lstStyle/>
          <a:p>
            <a:pPr algn="ctr" indent="0" marL="0">
              <a:buNone/>
            </a:pPr>
            <a:r>
              <a:rPr lang="en-US" sz="1500" b="1" dirty="0">
                <a:solidFill>
                  <a:srgbClr val="2C5F2D"/>
                </a:solidFill>
                <a:latin typeface="Cambria" pitchFamily="34" charset="0"/>
                <a:ea typeface="Cambria" pitchFamily="34" charset="-122"/>
                <a:cs typeface="Cambria" pitchFamily="34" charset="-120"/>
              </a:rPr>
              <a:t>1</a:t>
            </a:r>
            <a:endParaRPr lang="en-US" sz="1500" dirty="0"/>
          </a:p>
        </p:txBody>
      </p:sp>
      <p:sp>
        <p:nvSpPr>
          <p:cNvPr id="6" name="Text 4"/>
          <p:cNvSpPr/>
          <p:nvPr/>
        </p:nvSpPr>
        <p:spPr>
          <a:xfrm>
            <a:off x="1234440" y="1801368"/>
            <a:ext cx="3200400" cy="457200"/>
          </a:xfrm>
          <a:prstGeom prst="rect">
            <a:avLst/>
          </a:prstGeom>
          <a:noFill/>
          <a:ln/>
        </p:spPr>
        <p:txBody>
          <a:bodyPr wrap="square" rtlCol="0" anchor="ctr"/>
          <a:lstStyle/>
          <a:p>
            <a:pPr indent="0" marL="0">
              <a:buNone/>
            </a:pPr>
            <a:r>
              <a:rPr lang="en-US" sz="1350" b="1" dirty="0">
                <a:solidFill>
                  <a:srgbClr val="2C5F2D"/>
                </a:solidFill>
                <a:latin typeface="Calibri" pitchFamily="34" charset="0"/>
                <a:ea typeface="Calibri" pitchFamily="34" charset="-122"/>
                <a:cs typeface="Calibri" pitchFamily="34" charset="-120"/>
              </a:rPr>
              <a:t>Chat Input</a:t>
            </a:r>
            <a:endParaRPr lang="en-US" sz="1350" dirty="0"/>
          </a:p>
        </p:txBody>
      </p:sp>
      <p:sp>
        <p:nvSpPr>
          <p:cNvPr id="7" name="Text 5"/>
          <p:cNvSpPr/>
          <p:nvPr/>
        </p:nvSpPr>
        <p:spPr>
          <a:xfrm>
            <a:off x="4572000" y="1801368"/>
            <a:ext cx="7040880" cy="457200"/>
          </a:xfrm>
          <a:prstGeom prst="rect">
            <a:avLst/>
          </a:prstGeom>
          <a:noFill/>
          <a:ln/>
        </p:spPr>
        <p:txBody>
          <a:bodyPr wrap="square" rtlCol="0" anchor="ctr"/>
          <a:lstStyle/>
          <a:p>
            <a:pPr indent="0" marL="0">
              <a:buNone/>
            </a:pPr>
            <a:r>
              <a:rPr lang="en-US" sz="1200" dirty="0">
                <a:solidFill>
                  <a:srgbClr val="5A6B5A"/>
                </a:solidFill>
                <a:latin typeface="Calibri" pitchFamily="34" charset="0"/>
                <a:ea typeface="Calibri" pitchFamily="34" charset="-122"/>
                <a:cs typeface="Calibri" pitchFamily="34" charset="-120"/>
              </a:rPr>
              <a:t>Farmer enters a question in text</a:t>
            </a:r>
            <a:endParaRPr lang="en-US" sz="1200" dirty="0"/>
          </a:p>
        </p:txBody>
      </p:sp>
      <p:sp>
        <p:nvSpPr>
          <p:cNvPr id="8" name="Shape 6"/>
          <p:cNvSpPr/>
          <p:nvPr/>
        </p:nvSpPr>
        <p:spPr>
          <a:xfrm>
            <a:off x="548640" y="2404872"/>
            <a:ext cx="11064240" cy="0"/>
          </a:xfrm>
          <a:prstGeom prst="line">
            <a:avLst/>
          </a:prstGeom>
          <a:noFill/>
          <a:ln w="9525">
            <a:solidFill>
              <a:srgbClr val="DDDDDD"/>
            </a:solidFill>
            <a:prstDash val="solid"/>
          </a:ln>
        </p:spPr>
      </p:sp>
      <p:sp>
        <p:nvSpPr>
          <p:cNvPr id="9" name="Shape 7"/>
          <p:cNvSpPr/>
          <p:nvPr/>
        </p:nvSpPr>
        <p:spPr>
          <a:xfrm>
            <a:off x="548640" y="2404872"/>
            <a:ext cx="457200" cy="457200"/>
          </a:xfrm>
          <a:prstGeom prst="roundRect">
            <a:avLst>
              <a:gd name="adj" fmla="val 50000"/>
            </a:avLst>
          </a:prstGeom>
          <a:solidFill>
            <a:srgbClr val="97BC62"/>
          </a:solidFill>
          <a:ln/>
        </p:spPr>
      </p:sp>
      <p:sp>
        <p:nvSpPr>
          <p:cNvPr id="10" name="Text 8"/>
          <p:cNvSpPr/>
          <p:nvPr/>
        </p:nvSpPr>
        <p:spPr>
          <a:xfrm>
            <a:off x="548640" y="2404872"/>
            <a:ext cx="457200" cy="457200"/>
          </a:xfrm>
          <a:prstGeom prst="rect">
            <a:avLst/>
          </a:prstGeom>
          <a:noFill/>
          <a:ln/>
        </p:spPr>
        <p:txBody>
          <a:bodyPr wrap="square" rtlCol="0" anchor="ctr"/>
          <a:lstStyle/>
          <a:p>
            <a:pPr algn="ctr" indent="0" marL="0">
              <a:buNone/>
            </a:pPr>
            <a:r>
              <a:rPr lang="en-US" sz="1500" b="1" dirty="0">
                <a:solidFill>
                  <a:srgbClr val="2C5F2D"/>
                </a:solidFill>
                <a:latin typeface="Cambria" pitchFamily="34" charset="0"/>
                <a:ea typeface="Cambria" pitchFamily="34" charset="-122"/>
                <a:cs typeface="Cambria" pitchFamily="34" charset="-120"/>
              </a:rPr>
              <a:t>2</a:t>
            </a:r>
            <a:endParaRPr lang="en-US" sz="1500" dirty="0"/>
          </a:p>
        </p:txBody>
      </p:sp>
      <p:sp>
        <p:nvSpPr>
          <p:cNvPr id="11" name="Text 9"/>
          <p:cNvSpPr/>
          <p:nvPr/>
        </p:nvSpPr>
        <p:spPr>
          <a:xfrm>
            <a:off x="1234440" y="2423160"/>
            <a:ext cx="3200400" cy="457200"/>
          </a:xfrm>
          <a:prstGeom prst="rect">
            <a:avLst/>
          </a:prstGeom>
          <a:noFill/>
          <a:ln/>
        </p:spPr>
        <p:txBody>
          <a:bodyPr wrap="square" rtlCol="0" anchor="ctr"/>
          <a:lstStyle/>
          <a:p>
            <a:pPr indent="0" marL="0">
              <a:buNone/>
            </a:pPr>
            <a:r>
              <a:rPr lang="en-US" sz="1350" b="1" dirty="0">
                <a:solidFill>
                  <a:srgbClr val="2C5F2D"/>
                </a:solidFill>
                <a:latin typeface="Calibri" pitchFamily="34" charset="0"/>
                <a:ea typeface="Calibri" pitchFamily="34" charset="-122"/>
                <a:cs typeface="Calibri" pitchFamily="34" charset="-120"/>
              </a:rPr>
              <a:t>Read File</a:t>
            </a:r>
            <a:endParaRPr lang="en-US" sz="1350" dirty="0"/>
          </a:p>
        </p:txBody>
      </p:sp>
      <p:sp>
        <p:nvSpPr>
          <p:cNvPr id="12" name="Text 10"/>
          <p:cNvSpPr/>
          <p:nvPr/>
        </p:nvSpPr>
        <p:spPr>
          <a:xfrm>
            <a:off x="4572000" y="2423160"/>
            <a:ext cx="7040880" cy="457200"/>
          </a:xfrm>
          <a:prstGeom prst="rect">
            <a:avLst/>
          </a:prstGeom>
          <a:noFill/>
          <a:ln/>
        </p:spPr>
        <p:txBody>
          <a:bodyPr wrap="square" rtlCol="0" anchor="ctr"/>
          <a:lstStyle/>
          <a:p>
            <a:pPr indent="0" marL="0">
              <a:buNone/>
            </a:pPr>
            <a:r>
              <a:rPr lang="en-US" sz="1200" dirty="0">
                <a:solidFill>
                  <a:srgbClr val="5A6B5A"/>
                </a:solidFill>
                <a:latin typeface="Calibri" pitchFamily="34" charset="0"/>
                <a:ea typeface="Calibri" pitchFamily="34" charset="-122"/>
                <a:cs typeface="Calibri" pitchFamily="34" charset="-120"/>
              </a:rPr>
              <a:t>Loads crop, mandi price, and master farming datasets</a:t>
            </a:r>
            <a:endParaRPr lang="en-US" sz="1200" dirty="0"/>
          </a:p>
        </p:txBody>
      </p:sp>
      <p:sp>
        <p:nvSpPr>
          <p:cNvPr id="13" name="Shape 11"/>
          <p:cNvSpPr/>
          <p:nvPr/>
        </p:nvSpPr>
        <p:spPr>
          <a:xfrm>
            <a:off x="548640" y="3026664"/>
            <a:ext cx="11064240" cy="0"/>
          </a:xfrm>
          <a:prstGeom prst="line">
            <a:avLst/>
          </a:prstGeom>
          <a:noFill/>
          <a:ln w="9525">
            <a:solidFill>
              <a:srgbClr val="DDDDDD"/>
            </a:solidFill>
            <a:prstDash val="solid"/>
          </a:ln>
        </p:spPr>
      </p:sp>
      <p:sp>
        <p:nvSpPr>
          <p:cNvPr id="14" name="Shape 12"/>
          <p:cNvSpPr/>
          <p:nvPr/>
        </p:nvSpPr>
        <p:spPr>
          <a:xfrm>
            <a:off x="548640" y="3026664"/>
            <a:ext cx="457200" cy="457200"/>
          </a:xfrm>
          <a:prstGeom prst="roundRect">
            <a:avLst>
              <a:gd name="adj" fmla="val 50000"/>
            </a:avLst>
          </a:prstGeom>
          <a:solidFill>
            <a:srgbClr val="97BC62"/>
          </a:solidFill>
          <a:ln/>
        </p:spPr>
      </p:sp>
      <p:sp>
        <p:nvSpPr>
          <p:cNvPr id="15" name="Text 13"/>
          <p:cNvSpPr/>
          <p:nvPr/>
        </p:nvSpPr>
        <p:spPr>
          <a:xfrm>
            <a:off x="548640" y="3026664"/>
            <a:ext cx="457200" cy="457200"/>
          </a:xfrm>
          <a:prstGeom prst="rect">
            <a:avLst/>
          </a:prstGeom>
          <a:noFill/>
          <a:ln/>
        </p:spPr>
        <p:txBody>
          <a:bodyPr wrap="square" rtlCol="0" anchor="ctr"/>
          <a:lstStyle/>
          <a:p>
            <a:pPr algn="ctr" indent="0" marL="0">
              <a:buNone/>
            </a:pPr>
            <a:r>
              <a:rPr lang="en-US" sz="1500" b="1" dirty="0">
                <a:solidFill>
                  <a:srgbClr val="2C5F2D"/>
                </a:solidFill>
                <a:latin typeface="Cambria" pitchFamily="34" charset="0"/>
                <a:ea typeface="Cambria" pitchFamily="34" charset="-122"/>
                <a:cs typeface="Cambria" pitchFamily="34" charset="-120"/>
              </a:rPr>
              <a:t>3</a:t>
            </a:r>
            <a:endParaRPr lang="en-US" sz="1500" dirty="0"/>
          </a:p>
        </p:txBody>
      </p:sp>
      <p:sp>
        <p:nvSpPr>
          <p:cNvPr id="16" name="Text 14"/>
          <p:cNvSpPr/>
          <p:nvPr/>
        </p:nvSpPr>
        <p:spPr>
          <a:xfrm>
            <a:off x="1234440" y="3044952"/>
            <a:ext cx="3200400" cy="457200"/>
          </a:xfrm>
          <a:prstGeom prst="rect">
            <a:avLst/>
          </a:prstGeom>
          <a:noFill/>
          <a:ln/>
        </p:spPr>
        <p:txBody>
          <a:bodyPr wrap="square" rtlCol="0" anchor="ctr"/>
          <a:lstStyle/>
          <a:p>
            <a:pPr indent="0" marL="0">
              <a:buNone/>
            </a:pPr>
            <a:r>
              <a:rPr lang="en-US" sz="1350" b="1" dirty="0">
                <a:solidFill>
                  <a:srgbClr val="2C5F2D"/>
                </a:solidFill>
                <a:latin typeface="Calibri" pitchFamily="34" charset="0"/>
                <a:ea typeface="Calibri" pitchFamily="34" charset="-122"/>
                <a:cs typeface="Calibri" pitchFamily="34" charset="-120"/>
              </a:rPr>
              <a:t>Split Text</a:t>
            </a:r>
            <a:endParaRPr lang="en-US" sz="1350" dirty="0"/>
          </a:p>
        </p:txBody>
      </p:sp>
      <p:sp>
        <p:nvSpPr>
          <p:cNvPr id="17" name="Text 15"/>
          <p:cNvSpPr/>
          <p:nvPr/>
        </p:nvSpPr>
        <p:spPr>
          <a:xfrm>
            <a:off x="4572000" y="3044952"/>
            <a:ext cx="7040880" cy="457200"/>
          </a:xfrm>
          <a:prstGeom prst="rect">
            <a:avLst/>
          </a:prstGeom>
          <a:noFill/>
          <a:ln/>
        </p:spPr>
        <p:txBody>
          <a:bodyPr wrap="square" rtlCol="0" anchor="ctr"/>
          <a:lstStyle/>
          <a:p>
            <a:pPr indent="0" marL="0">
              <a:buNone/>
            </a:pPr>
            <a:r>
              <a:rPr lang="en-US" sz="1200" dirty="0">
                <a:solidFill>
                  <a:srgbClr val="5A6B5A"/>
                </a:solidFill>
                <a:latin typeface="Calibri" pitchFamily="34" charset="0"/>
                <a:ea typeface="Calibri" pitchFamily="34" charset="-122"/>
                <a:cs typeface="Calibri" pitchFamily="34" charset="-120"/>
              </a:rPr>
              <a:t>Chunks documents (size 500, overlap 50) for retrieval</a:t>
            </a:r>
            <a:endParaRPr lang="en-US" sz="1200" dirty="0"/>
          </a:p>
        </p:txBody>
      </p:sp>
      <p:sp>
        <p:nvSpPr>
          <p:cNvPr id="18" name="Shape 16"/>
          <p:cNvSpPr/>
          <p:nvPr/>
        </p:nvSpPr>
        <p:spPr>
          <a:xfrm>
            <a:off x="548640" y="3648456"/>
            <a:ext cx="11064240" cy="0"/>
          </a:xfrm>
          <a:prstGeom prst="line">
            <a:avLst/>
          </a:prstGeom>
          <a:noFill/>
          <a:ln w="9525">
            <a:solidFill>
              <a:srgbClr val="DDDDDD"/>
            </a:solidFill>
            <a:prstDash val="solid"/>
          </a:ln>
        </p:spPr>
      </p:sp>
      <p:sp>
        <p:nvSpPr>
          <p:cNvPr id="19" name="Shape 17"/>
          <p:cNvSpPr/>
          <p:nvPr/>
        </p:nvSpPr>
        <p:spPr>
          <a:xfrm>
            <a:off x="548640" y="3648456"/>
            <a:ext cx="457200" cy="457200"/>
          </a:xfrm>
          <a:prstGeom prst="roundRect">
            <a:avLst>
              <a:gd name="adj" fmla="val 50000"/>
            </a:avLst>
          </a:prstGeom>
          <a:solidFill>
            <a:srgbClr val="97BC62"/>
          </a:solidFill>
          <a:ln/>
        </p:spPr>
      </p:sp>
      <p:sp>
        <p:nvSpPr>
          <p:cNvPr id="20" name="Text 18"/>
          <p:cNvSpPr/>
          <p:nvPr/>
        </p:nvSpPr>
        <p:spPr>
          <a:xfrm>
            <a:off x="548640" y="3648456"/>
            <a:ext cx="457200" cy="457200"/>
          </a:xfrm>
          <a:prstGeom prst="rect">
            <a:avLst/>
          </a:prstGeom>
          <a:noFill/>
          <a:ln/>
        </p:spPr>
        <p:txBody>
          <a:bodyPr wrap="square" rtlCol="0" anchor="ctr"/>
          <a:lstStyle/>
          <a:p>
            <a:pPr algn="ctr" indent="0" marL="0">
              <a:buNone/>
            </a:pPr>
            <a:r>
              <a:rPr lang="en-US" sz="1500" b="1" dirty="0">
                <a:solidFill>
                  <a:srgbClr val="2C5F2D"/>
                </a:solidFill>
                <a:latin typeface="Cambria" pitchFamily="34" charset="0"/>
                <a:ea typeface="Cambria" pitchFamily="34" charset="-122"/>
                <a:cs typeface="Cambria" pitchFamily="34" charset="-120"/>
              </a:rPr>
              <a:t>4</a:t>
            </a:r>
            <a:endParaRPr lang="en-US" sz="1500" dirty="0"/>
          </a:p>
        </p:txBody>
      </p:sp>
      <p:sp>
        <p:nvSpPr>
          <p:cNvPr id="21" name="Text 19"/>
          <p:cNvSpPr/>
          <p:nvPr/>
        </p:nvSpPr>
        <p:spPr>
          <a:xfrm>
            <a:off x="1234440" y="3666744"/>
            <a:ext cx="3200400" cy="457200"/>
          </a:xfrm>
          <a:prstGeom prst="rect">
            <a:avLst/>
          </a:prstGeom>
          <a:noFill/>
          <a:ln/>
        </p:spPr>
        <p:txBody>
          <a:bodyPr wrap="square" rtlCol="0" anchor="ctr"/>
          <a:lstStyle/>
          <a:p>
            <a:pPr indent="0" marL="0">
              <a:buNone/>
            </a:pPr>
            <a:r>
              <a:rPr lang="en-US" sz="1350" b="1" dirty="0">
                <a:solidFill>
                  <a:srgbClr val="2C5F2D"/>
                </a:solidFill>
                <a:latin typeface="Calibri" pitchFamily="34" charset="0"/>
                <a:ea typeface="Calibri" pitchFamily="34" charset="-122"/>
                <a:cs typeface="Calibri" pitchFamily="34" charset="-120"/>
              </a:rPr>
              <a:t>HF Embeddings + FAISS</a:t>
            </a:r>
            <a:endParaRPr lang="en-US" sz="1350" dirty="0"/>
          </a:p>
        </p:txBody>
      </p:sp>
      <p:sp>
        <p:nvSpPr>
          <p:cNvPr id="22" name="Text 20"/>
          <p:cNvSpPr/>
          <p:nvPr/>
        </p:nvSpPr>
        <p:spPr>
          <a:xfrm>
            <a:off x="4572000" y="3666744"/>
            <a:ext cx="7040880" cy="457200"/>
          </a:xfrm>
          <a:prstGeom prst="rect">
            <a:avLst/>
          </a:prstGeom>
          <a:noFill/>
          <a:ln/>
        </p:spPr>
        <p:txBody>
          <a:bodyPr wrap="square" rtlCol="0" anchor="ctr"/>
          <a:lstStyle/>
          <a:p>
            <a:pPr indent="0" marL="0">
              <a:buNone/>
            </a:pPr>
            <a:r>
              <a:rPr lang="en-US" sz="1200" dirty="0">
                <a:solidFill>
                  <a:srgbClr val="5A6B5A"/>
                </a:solidFill>
                <a:latin typeface="Calibri" pitchFamily="34" charset="0"/>
                <a:ea typeface="Calibri" pitchFamily="34" charset="-122"/>
                <a:cs typeface="Calibri" pitchFamily="34" charset="-120"/>
              </a:rPr>
              <a:t>Embeds chunks, stores in FAISS vector index (agri_db)</a:t>
            </a:r>
            <a:endParaRPr lang="en-US" sz="1200" dirty="0"/>
          </a:p>
        </p:txBody>
      </p:sp>
      <p:sp>
        <p:nvSpPr>
          <p:cNvPr id="23" name="Shape 21"/>
          <p:cNvSpPr/>
          <p:nvPr/>
        </p:nvSpPr>
        <p:spPr>
          <a:xfrm>
            <a:off x="548640" y="4270248"/>
            <a:ext cx="11064240" cy="0"/>
          </a:xfrm>
          <a:prstGeom prst="line">
            <a:avLst/>
          </a:prstGeom>
          <a:noFill/>
          <a:ln w="9525">
            <a:solidFill>
              <a:srgbClr val="DDDDDD"/>
            </a:solidFill>
            <a:prstDash val="solid"/>
          </a:ln>
        </p:spPr>
      </p:sp>
      <p:sp>
        <p:nvSpPr>
          <p:cNvPr id="24" name="Shape 22"/>
          <p:cNvSpPr/>
          <p:nvPr/>
        </p:nvSpPr>
        <p:spPr>
          <a:xfrm>
            <a:off x="548640" y="4270248"/>
            <a:ext cx="457200" cy="457200"/>
          </a:xfrm>
          <a:prstGeom prst="roundRect">
            <a:avLst>
              <a:gd name="adj" fmla="val 50000"/>
            </a:avLst>
          </a:prstGeom>
          <a:solidFill>
            <a:srgbClr val="97BC62"/>
          </a:solidFill>
          <a:ln/>
        </p:spPr>
      </p:sp>
      <p:sp>
        <p:nvSpPr>
          <p:cNvPr id="25" name="Text 23"/>
          <p:cNvSpPr/>
          <p:nvPr/>
        </p:nvSpPr>
        <p:spPr>
          <a:xfrm>
            <a:off x="548640" y="4270248"/>
            <a:ext cx="457200" cy="457200"/>
          </a:xfrm>
          <a:prstGeom prst="rect">
            <a:avLst/>
          </a:prstGeom>
          <a:noFill/>
          <a:ln/>
        </p:spPr>
        <p:txBody>
          <a:bodyPr wrap="square" rtlCol="0" anchor="ctr"/>
          <a:lstStyle/>
          <a:p>
            <a:pPr algn="ctr" indent="0" marL="0">
              <a:buNone/>
            </a:pPr>
            <a:r>
              <a:rPr lang="en-US" sz="1500" b="1" dirty="0">
                <a:solidFill>
                  <a:srgbClr val="2C5F2D"/>
                </a:solidFill>
                <a:latin typeface="Cambria" pitchFamily="34" charset="0"/>
                <a:ea typeface="Cambria" pitchFamily="34" charset="-122"/>
                <a:cs typeface="Cambria" pitchFamily="34" charset="-120"/>
              </a:rPr>
              <a:t>5</a:t>
            </a:r>
            <a:endParaRPr lang="en-US" sz="1500" dirty="0"/>
          </a:p>
        </p:txBody>
      </p:sp>
      <p:sp>
        <p:nvSpPr>
          <p:cNvPr id="26" name="Text 24"/>
          <p:cNvSpPr/>
          <p:nvPr/>
        </p:nvSpPr>
        <p:spPr>
          <a:xfrm>
            <a:off x="1234440" y="4288536"/>
            <a:ext cx="3200400" cy="457200"/>
          </a:xfrm>
          <a:prstGeom prst="rect">
            <a:avLst/>
          </a:prstGeom>
          <a:noFill/>
          <a:ln/>
        </p:spPr>
        <p:txBody>
          <a:bodyPr wrap="square" rtlCol="0" anchor="ctr"/>
          <a:lstStyle/>
          <a:p>
            <a:pPr indent="0" marL="0">
              <a:buNone/>
            </a:pPr>
            <a:r>
              <a:rPr lang="en-US" sz="1350" b="1" dirty="0">
                <a:solidFill>
                  <a:srgbClr val="2C5F2D"/>
                </a:solidFill>
                <a:latin typeface="Calibri" pitchFamily="34" charset="0"/>
                <a:ea typeface="Calibri" pitchFamily="34" charset="-122"/>
                <a:cs typeface="Calibri" pitchFamily="34" charset="-120"/>
              </a:rPr>
              <a:t>Prompt Template</a:t>
            </a:r>
            <a:endParaRPr lang="en-US" sz="1350" dirty="0"/>
          </a:p>
        </p:txBody>
      </p:sp>
      <p:sp>
        <p:nvSpPr>
          <p:cNvPr id="27" name="Text 25"/>
          <p:cNvSpPr/>
          <p:nvPr/>
        </p:nvSpPr>
        <p:spPr>
          <a:xfrm>
            <a:off x="4572000" y="4288536"/>
            <a:ext cx="7040880" cy="457200"/>
          </a:xfrm>
          <a:prstGeom prst="rect">
            <a:avLst/>
          </a:prstGeom>
          <a:noFill/>
          <a:ln/>
        </p:spPr>
        <p:txBody>
          <a:bodyPr wrap="square" rtlCol="0" anchor="ctr"/>
          <a:lstStyle/>
          <a:p>
            <a:pPr indent="0" marL="0">
              <a:buNone/>
            </a:pPr>
            <a:r>
              <a:rPr lang="en-US" sz="1200" dirty="0">
                <a:solidFill>
                  <a:srgbClr val="5A6B5A"/>
                </a:solidFill>
                <a:latin typeface="Calibri" pitchFamily="34" charset="0"/>
                <a:ea typeface="Calibri" pitchFamily="34" charset="-122"/>
                <a:cs typeface="Calibri" pitchFamily="34" charset="-120"/>
              </a:rPr>
              <a:t>Combines retrieved context with the farmer's query</a:t>
            </a:r>
            <a:endParaRPr lang="en-US" sz="1200" dirty="0"/>
          </a:p>
        </p:txBody>
      </p:sp>
      <p:sp>
        <p:nvSpPr>
          <p:cNvPr id="28" name="Shape 26"/>
          <p:cNvSpPr/>
          <p:nvPr/>
        </p:nvSpPr>
        <p:spPr>
          <a:xfrm>
            <a:off x="548640" y="4892040"/>
            <a:ext cx="11064240" cy="0"/>
          </a:xfrm>
          <a:prstGeom prst="line">
            <a:avLst/>
          </a:prstGeom>
          <a:noFill/>
          <a:ln w="9525">
            <a:solidFill>
              <a:srgbClr val="DDDDDD"/>
            </a:solidFill>
            <a:prstDash val="solid"/>
          </a:ln>
        </p:spPr>
      </p:sp>
      <p:sp>
        <p:nvSpPr>
          <p:cNvPr id="29" name="Shape 27"/>
          <p:cNvSpPr/>
          <p:nvPr/>
        </p:nvSpPr>
        <p:spPr>
          <a:xfrm>
            <a:off x="548640" y="4892040"/>
            <a:ext cx="457200" cy="457200"/>
          </a:xfrm>
          <a:prstGeom prst="roundRect">
            <a:avLst>
              <a:gd name="adj" fmla="val 50000"/>
            </a:avLst>
          </a:prstGeom>
          <a:solidFill>
            <a:srgbClr val="97BC62"/>
          </a:solidFill>
          <a:ln/>
        </p:spPr>
      </p:sp>
      <p:sp>
        <p:nvSpPr>
          <p:cNvPr id="30" name="Text 28"/>
          <p:cNvSpPr/>
          <p:nvPr/>
        </p:nvSpPr>
        <p:spPr>
          <a:xfrm>
            <a:off x="548640" y="4892040"/>
            <a:ext cx="457200" cy="457200"/>
          </a:xfrm>
          <a:prstGeom prst="rect">
            <a:avLst/>
          </a:prstGeom>
          <a:noFill/>
          <a:ln/>
        </p:spPr>
        <p:txBody>
          <a:bodyPr wrap="square" rtlCol="0" anchor="ctr"/>
          <a:lstStyle/>
          <a:p>
            <a:pPr algn="ctr" indent="0" marL="0">
              <a:buNone/>
            </a:pPr>
            <a:r>
              <a:rPr lang="en-US" sz="1500" b="1" dirty="0">
                <a:solidFill>
                  <a:srgbClr val="2C5F2D"/>
                </a:solidFill>
                <a:latin typeface="Cambria" pitchFamily="34" charset="0"/>
                <a:ea typeface="Cambria" pitchFamily="34" charset="-122"/>
                <a:cs typeface="Cambria" pitchFamily="34" charset="-120"/>
              </a:rPr>
              <a:t>6</a:t>
            </a:r>
            <a:endParaRPr lang="en-US" sz="1500" dirty="0"/>
          </a:p>
        </p:txBody>
      </p:sp>
      <p:sp>
        <p:nvSpPr>
          <p:cNvPr id="31" name="Text 29"/>
          <p:cNvSpPr/>
          <p:nvPr/>
        </p:nvSpPr>
        <p:spPr>
          <a:xfrm>
            <a:off x="1234440" y="4910328"/>
            <a:ext cx="3200400" cy="457200"/>
          </a:xfrm>
          <a:prstGeom prst="rect">
            <a:avLst/>
          </a:prstGeom>
          <a:noFill/>
          <a:ln/>
        </p:spPr>
        <p:txBody>
          <a:bodyPr wrap="square" rtlCol="0" anchor="ctr"/>
          <a:lstStyle/>
          <a:p>
            <a:pPr indent="0" marL="0">
              <a:buNone/>
            </a:pPr>
            <a:r>
              <a:rPr lang="en-US" sz="1350" b="1" dirty="0">
                <a:solidFill>
                  <a:srgbClr val="2C5F2D"/>
                </a:solidFill>
                <a:latin typeface="Calibri" pitchFamily="34" charset="0"/>
                <a:ea typeface="Calibri" pitchFamily="34" charset="-122"/>
                <a:cs typeface="Calibri" pitchFamily="34" charset="-120"/>
              </a:rPr>
              <a:t>Granite Model</a:t>
            </a:r>
            <a:endParaRPr lang="en-US" sz="1350" dirty="0"/>
          </a:p>
        </p:txBody>
      </p:sp>
      <p:sp>
        <p:nvSpPr>
          <p:cNvPr id="32" name="Text 30"/>
          <p:cNvSpPr/>
          <p:nvPr/>
        </p:nvSpPr>
        <p:spPr>
          <a:xfrm>
            <a:off x="4572000" y="4910328"/>
            <a:ext cx="7040880" cy="457200"/>
          </a:xfrm>
          <a:prstGeom prst="rect">
            <a:avLst/>
          </a:prstGeom>
          <a:noFill/>
          <a:ln/>
        </p:spPr>
        <p:txBody>
          <a:bodyPr wrap="square" rtlCol="0" anchor="ctr"/>
          <a:lstStyle/>
          <a:p>
            <a:pPr indent="0" marL="0">
              <a:buNone/>
            </a:pPr>
            <a:r>
              <a:rPr lang="en-US" sz="1200" dirty="0">
                <a:solidFill>
                  <a:srgbClr val="5A6B5A"/>
                </a:solidFill>
                <a:latin typeface="Calibri" pitchFamily="34" charset="0"/>
                <a:ea typeface="Calibri" pitchFamily="34" charset="-122"/>
                <a:cs typeface="Calibri" pitchFamily="34" charset="-120"/>
              </a:rPr>
              <a:t>granite-4-h-small generates the grounded answer</a:t>
            </a:r>
            <a:endParaRPr lang="en-US" sz="1200" dirty="0"/>
          </a:p>
        </p:txBody>
      </p:sp>
      <p:sp>
        <p:nvSpPr>
          <p:cNvPr id="33" name="Shape 31"/>
          <p:cNvSpPr/>
          <p:nvPr/>
        </p:nvSpPr>
        <p:spPr>
          <a:xfrm>
            <a:off x="548640" y="5513832"/>
            <a:ext cx="11064240" cy="0"/>
          </a:xfrm>
          <a:prstGeom prst="line">
            <a:avLst/>
          </a:prstGeom>
          <a:noFill/>
          <a:ln w="9525">
            <a:solidFill>
              <a:srgbClr val="DDDDDD"/>
            </a:solidFill>
            <a:prstDash val="solid"/>
          </a:ln>
        </p:spPr>
      </p:sp>
      <p:sp>
        <p:nvSpPr>
          <p:cNvPr id="34" name="Shape 32"/>
          <p:cNvSpPr/>
          <p:nvPr/>
        </p:nvSpPr>
        <p:spPr>
          <a:xfrm>
            <a:off x="548640" y="5513832"/>
            <a:ext cx="457200" cy="457200"/>
          </a:xfrm>
          <a:prstGeom prst="roundRect">
            <a:avLst>
              <a:gd name="adj" fmla="val 50000"/>
            </a:avLst>
          </a:prstGeom>
          <a:solidFill>
            <a:srgbClr val="97BC62"/>
          </a:solidFill>
          <a:ln/>
        </p:spPr>
      </p:sp>
      <p:sp>
        <p:nvSpPr>
          <p:cNvPr id="35" name="Text 33"/>
          <p:cNvSpPr/>
          <p:nvPr/>
        </p:nvSpPr>
        <p:spPr>
          <a:xfrm>
            <a:off x="548640" y="5513832"/>
            <a:ext cx="457200" cy="457200"/>
          </a:xfrm>
          <a:prstGeom prst="rect">
            <a:avLst/>
          </a:prstGeom>
          <a:noFill/>
          <a:ln/>
        </p:spPr>
        <p:txBody>
          <a:bodyPr wrap="square" rtlCol="0" anchor="ctr"/>
          <a:lstStyle/>
          <a:p>
            <a:pPr algn="ctr" indent="0" marL="0">
              <a:buNone/>
            </a:pPr>
            <a:r>
              <a:rPr lang="en-US" sz="1500" b="1" dirty="0">
                <a:solidFill>
                  <a:srgbClr val="2C5F2D"/>
                </a:solidFill>
                <a:latin typeface="Cambria" pitchFamily="34" charset="0"/>
                <a:ea typeface="Cambria" pitchFamily="34" charset="-122"/>
                <a:cs typeface="Cambria" pitchFamily="34" charset="-120"/>
              </a:rPr>
              <a:t>7</a:t>
            </a:r>
            <a:endParaRPr lang="en-US" sz="1500" dirty="0"/>
          </a:p>
        </p:txBody>
      </p:sp>
      <p:sp>
        <p:nvSpPr>
          <p:cNvPr id="36" name="Text 34"/>
          <p:cNvSpPr/>
          <p:nvPr/>
        </p:nvSpPr>
        <p:spPr>
          <a:xfrm>
            <a:off x="1234440" y="5532120"/>
            <a:ext cx="3200400" cy="457200"/>
          </a:xfrm>
          <a:prstGeom prst="rect">
            <a:avLst/>
          </a:prstGeom>
          <a:noFill/>
          <a:ln/>
        </p:spPr>
        <p:txBody>
          <a:bodyPr wrap="square" rtlCol="0" anchor="ctr"/>
          <a:lstStyle/>
          <a:p>
            <a:pPr indent="0" marL="0">
              <a:buNone/>
            </a:pPr>
            <a:r>
              <a:rPr lang="en-US" sz="1350" b="1" dirty="0">
                <a:solidFill>
                  <a:srgbClr val="2C5F2D"/>
                </a:solidFill>
                <a:latin typeface="Calibri" pitchFamily="34" charset="0"/>
                <a:ea typeface="Calibri" pitchFamily="34" charset="-122"/>
                <a:cs typeface="Calibri" pitchFamily="34" charset="-120"/>
              </a:rPr>
              <a:t>Chat Output</a:t>
            </a:r>
            <a:endParaRPr lang="en-US" sz="1350" dirty="0"/>
          </a:p>
        </p:txBody>
      </p:sp>
      <p:sp>
        <p:nvSpPr>
          <p:cNvPr id="37" name="Text 35"/>
          <p:cNvSpPr/>
          <p:nvPr/>
        </p:nvSpPr>
        <p:spPr>
          <a:xfrm>
            <a:off x="4572000" y="5532120"/>
            <a:ext cx="7040880" cy="457200"/>
          </a:xfrm>
          <a:prstGeom prst="rect">
            <a:avLst/>
          </a:prstGeom>
          <a:noFill/>
          <a:ln/>
        </p:spPr>
        <p:txBody>
          <a:bodyPr wrap="square" rtlCol="0" anchor="ctr"/>
          <a:lstStyle/>
          <a:p>
            <a:pPr indent="0" marL="0">
              <a:buNone/>
            </a:pPr>
            <a:r>
              <a:rPr lang="en-US" sz="1200" dirty="0">
                <a:solidFill>
                  <a:srgbClr val="5A6B5A"/>
                </a:solidFill>
                <a:latin typeface="Calibri" pitchFamily="34" charset="0"/>
                <a:ea typeface="Calibri" pitchFamily="34" charset="-122"/>
                <a:cs typeface="Calibri" pitchFamily="34" charset="-120"/>
              </a:rPr>
              <a:t>Displays the AI-generated, grounded response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C5F2D"/>
        </a:solidFill>
      </p:bgPr>
    </p:bg>
    <p:spTree>
      <p:nvGrpSpPr>
        <p:cNvPr id="1" name=""/>
        <p:cNvGrpSpPr/>
        <p:nvPr/>
      </p:nvGrpSpPr>
      <p:grpSpPr>
        <a:xfrm>
          <a:off x="0" y="0"/>
          <a:ext cx="0" cy="0"/>
          <a:chOff x="0" y="0"/>
          <a:chExt cx="0" cy="0"/>
        </a:xfrm>
      </p:grpSpPr>
      <p:sp>
        <p:nvSpPr>
          <p:cNvPr id="2" name="Text 0"/>
          <p:cNvSpPr/>
          <p:nvPr/>
        </p:nvSpPr>
        <p:spPr>
          <a:xfrm>
            <a:off x="548640" y="320040"/>
            <a:ext cx="7315200" cy="365760"/>
          </a:xfrm>
          <a:prstGeom prst="rect">
            <a:avLst/>
          </a:prstGeom>
          <a:noFill/>
          <a:ln/>
        </p:spPr>
        <p:txBody>
          <a:bodyPr wrap="square" rtlCol="0" anchor="ctr"/>
          <a:lstStyle/>
          <a:p>
            <a:pPr indent="0" marL="0">
              <a:buNone/>
            </a:pPr>
            <a:r>
              <a:rPr lang="en-US" sz="1300" b="1" spc="200" kern="0" dirty="0">
                <a:solidFill>
                  <a:srgbClr val="97BC62"/>
                </a:solidFill>
                <a:latin typeface="Calibri" pitchFamily="34" charset="0"/>
                <a:ea typeface="Calibri" pitchFamily="34" charset="-122"/>
                <a:cs typeface="Calibri" pitchFamily="34" charset="-120"/>
              </a:rPr>
              <a:t>06  —  BEYOND A SIMPLE CHATBOT</a:t>
            </a:r>
            <a:endParaRPr lang="en-US" sz="1300" dirty="0"/>
          </a:p>
        </p:txBody>
      </p:sp>
      <p:sp>
        <p:nvSpPr>
          <p:cNvPr id="3" name="Text 1"/>
          <p:cNvSpPr/>
          <p:nvPr/>
        </p:nvSpPr>
        <p:spPr>
          <a:xfrm>
            <a:off x="548640" y="640080"/>
            <a:ext cx="11064240" cy="8229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Role of Agentic AI in the Solution</a:t>
            </a:r>
            <a:endParaRPr lang="en-US" sz="3200" dirty="0"/>
          </a:p>
        </p:txBody>
      </p:sp>
      <p:sp>
        <p:nvSpPr>
          <p:cNvPr id="4" name="Text 2"/>
          <p:cNvSpPr/>
          <p:nvPr/>
        </p:nvSpPr>
        <p:spPr>
          <a:xfrm>
            <a:off x="548640" y="1600200"/>
            <a:ext cx="6766560" cy="1188720"/>
          </a:xfrm>
          <a:prstGeom prst="rect">
            <a:avLst/>
          </a:prstGeom>
          <a:noFill/>
          <a:ln/>
        </p:spPr>
        <p:txBody>
          <a:bodyPr wrap="square" rtlCol="0" anchor="ctr"/>
          <a:lstStyle/>
          <a:p>
            <a:pPr indent="0" marL="0">
              <a:lnSpc>
                <a:spcPct val="125000"/>
              </a:lnSpc>
              <a:buNone/>
            </a:pPr>
            <a:r>
              <a:rPr lang="en-US" sz="1400" dirty="0">
                <a:solidFill>
                  <a:srgbClr val="F5F5F5"/>
                </a:solidFill>
                <a:latin typeface="Calibri" pitchFamily="34" charset="0"/>
                <a:ea typeface="Calibri" pitchFamily="34" charset="-122"/>
                <a:cs typeface="Calibri" pitchFamily="34" charset="-120"/>
              </a:rPr>
              <a:t>Agentic AI enables Farmer Assist to function as an intelligent, autonomous system rather than a simple chatbot, coordinating a multi-step retrieval-and-generation pipeline to deliver grounded farming guidance.</a:t>
            </a:r>
            <a:endParaRPr lang="en-US" sz="1400" dirty="0"/>
          </a:p>
        </p:txBody>
      </p:sp>
      <p:sp>
        <p:nvSpPr>
          <p:cNvPr id="5" name="Shape 3"/>
          <p:cNvSpPr/>
          <p:nvPr/>
        </p:nvSpPr>
        <p:spPr>
          <a:xfrm>
            <a:off x="548640" y="2971800"/>
            <a:ext cx="128016" cy="777240"/>
          </a:xfrm>
          <a:prstGeom prst="roundRect">
            <a:avLst/>
          </a:prstGeom>
          <a:solidFill>
            <a:srgbClr val="97BC62"/>
          </a:solidFill>
          <a:ln/>
        </p:spPr>
      </p:sp>
      <p:sp>
        <p:nvSpPr>
          <p:cNvPr id="6" name="Text 4"/>
          <p:cNvSpPr/>
          <p:nvPr/>
        </p:nvSpPr>
        <p:spPr>
          <a:xfrm>
            <a:off x="822960" y="2953512"/>
            <a:ext cx="630936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Multi-step orchestration</a:t>
            </a:r>
            <a:endParaRPr lang="en-US" sz="1300" dirty="0"/>
          </a:p>
        </p:txBody>
      </p:sp>
      <p:sp>
        <p:nvSpPr>
          <p:cNvPr id="7" name="Text 5"/>
          <p:cNvSpPr/>
          <p:nvPr/>
        </p:nvSpPr>
        <p:spPr>
          <a:xfrm>
            <a:off x="822960" y="3291840"/>
            <a:ext cx="6309360" cy="502920"/>
          </a:xfrm>
          <a:prstGeom prst="rect">
            <a:avLst/>
          </a:prstGeom>
          <a:noFill/>
          <a:ln/>
        </p:spPr>
        <p:txBody>
          <a:bodyPr wrap="square" rtlCol="0" anchor="ctr"/>
          <a:lstStyle/>
          <a:p>
            <a:pPr indent="0" marL="0">
              <a:lnSpc>
                <a:spcPct val="115000"/>
              </a:lnSpc>
              <a:buNone/>
            </a:pPr>
            <a:r>
              <a:rPr lang="en-US" sz="1100" dirty="0">
                <a:solidFill>
                  <a:srgbClr val="F5F5F5"/>
                </a:solidFill>
                <a:latin typeface="Calibri" pitchFamily="34" charset="0"/>
                <a:ea typeface="Calibri" pitchFamily="34" charset="-122"/>
                <a:cs typeface="Calibri" pitchFamily="34" charset="-120"/>
              </a:rPr>
              <a:t>Loading, chunking, embedding, retrieval, and prompt composition work together in sequence.</a:t>
            </a:r>
            <a:endParaRPr lang="en-US" sz="1100" dirty="0"/>
          </a:p>
        </p:txBody>
      </p:sp>
      <p:sp>
        <p:nvSpPr>
          <p:cNvPr id="8" name="Shape 6"/>
          <p:cNvSpPr/>
          <p:nvPr/>
        </p:nvSpPr>
        <p:spPr>
          <a:xfrm>
            <a:off x="548640" y="3840480"/>
            <a:ext cx="128016" cy="777240"/>
          </a:xfrm>
          <a:prstGeom prst="roundRect">
            <a:avLst/>
          </a:prstGeom>
          <a:solidFill>
            <a:srgbClr val="97BC62"/>
          </a:solidFill>
          <a:ln/>
        </p:spPr>
      </p:sp>
      <p:sp>
        <p:nvSpPr>
          <p:cNvPr id="9" name="Text 7"/>
          <p:cNvSpPr/>
          <p:nvPr/>
        </p:nvSpPr>
        <p:spPr>
          <a:xfrm>
            <a:off x="822960" y="3822192"/>
            <a:ext cx="630936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Context awareness</a:t>
            </a:r>
            <a:endParaRPr lang="en-US" sz="1300" dirty="0"/>
          </a:p>
        </p:txBody>
      </p:sp>
      <p:sp>
        <p:nvSpPr>
          <p:cNvPr id="10" name="Text 8"/>
          <p:cNvSpPr/>
          <p:nvPr/>
        </p:nvSpPr>
        <p:spPr>
          <a:xfrm>
            <a:off x="822960" y="4160520"/>
            <a:ext cx="6309360" cy="502920"/>
          </a:xfrm>
          <a:prstGeom prst="rect">
            <a:avLst/>
          </a:prstGeom>
          <a:noFill/>
          <a:ln/>
        </p:spPr>
        <p:txBody>
          <a:bodyPr wrap="square" rtlCol="0" anchor="ctr"/>
          <a:lstStyle/>
          <a:p>
            <a:pPr indent="0" marL="0">
              <a:lnSpc>
                <a:spcPct val="115000"/>
              </a:lnSpc>
              <a:buNone/>
            </a:pPr>
            <a:r>
              <a:rPr lang="en-US" sz="1100" dirty="0">
                <a:solidFill>
                  <a:srgbClr val="F5F5F5"/>
                </a:solidFill>
                <a:latin typeface="Calibri" pitchFamily="34" charset="0"/>
                <a:ea typeface="Calibri" pitchFamily="34" charset="-122"/>
                <a:cs typeface="Calibri" pitchFamily="34" charset="-120"/>
              </a:rPr>
              <a:t>Understands the farmer's specific question to retrieve exactly the relevant chunks needed.</a:t>
            </a:r>
            <a:endParaRPr lang="en-US" sz="1100" dirty="0"/>
          </a:p>
        </p:txBody>
      </p:sp>
      <p:sp>
        <p:nvSpPr>
          <p:cNvPr id="11" name="Shape 9"/>
          <p:cNvSpPr/>
          <p:nvPr/>
        </p:nvSpPr>
        <p:spPr>
          <a:xfrm>
            <a:off x="548640" y="4709160"/>
            <a:ext cx="128016" cy="777240"/>
          </a:xfrm>
          <a:prstGeom prst="roundRect">
            <a:avLst/>
          </a:prstGeom>
          <a:solidFill>
            <a:srgbClr val="97BC62"/>
          </a:solidFill>
          <a:ln/>
        </p:spPr>
      </p:sp>
      <p:sp>
        <p:nvSpPr>
          <p:cNvPr id="12" name="Text 10"/>
          <p:cNvSpPr/>
          <p:nvPr/>
        </p:nvSpPr>
        <p:spPr>
          <a:xfrm>
            <a:off x="822960" y="4690872"/>
            <a:ext cx="630936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Grounded real-time responses</a:t>
            </a:r>
            <a:endParaRPr lang="en-US" sz="1300" dirty="0"/>
          </a:p>
        </p:txBody>
      </p:sp>
      <p:sp>
        <p:nvSpPr>
          <p:cNvPr id="13" name="Text 11"/>
          <p:cNvSpPr/>
          <p:nvPr/>
        </p:nvSpPr>
        <p:spPr>
          <a:xfrm>
            <a:off x="822960" y="5029200"/>
            <a:ext cx="6309360" cy="502920"/>
          </a:xfrm>
          <a:prstGeom prst="rect">
            <a:avLst/>
          </a:prstGeom>
          <a:noFill/>
          <a:ln/>
        </p:spPr>
        <p:txBody>
          <a:bodyPr wrap="square" rtlCol="0" anchor="ctr"/>
          <a:lstStyle/>
          <a:p>
            <a:pPr indent="0" marL="0">
              <a:lnSpc>
                <a:spcPct val="115000"/>
              </a:lnSpc>
              <a:buNone/>
            </a:pPr>
            <a:r>
              <a:rPr lang="en-US" sz="1100" dirty="0">
                <a:solidFill>
                  <a:srgbClr val="F5F5F5"/>
                </a:solidFill>
                <a:latin typeface="Calibri" pitchFamily="34" charset="0"/>
                <a:ea typeface="Calibri" pitchFamily="34" charset="-122"/>
                <a:cs typeface="Calibri" pitchFamily="34" charset="-120"/>
              </a:rPr>
              <a:t>Pulls from the FAISS vector index at query time rather than static knowledge.</a:t>
            </a:r>
            <a:endParaRPr lang="en-US" sz="1100" dirty="0"/>
          </a:p>
        </p:txBody>
      </p:sp>
      <p:sp>
        <p:nvSpPr>
          <p:cNvPr id="14" name="Shape 12"/>
          <p:cNvSpPr/>
          <p:nvPr/>
        </p:nvSpPr>
        <p:spPr>
          <a:xfrm>
            <a:off x="548640" y="5577840"/>
            <a:ext cx="128016" cy="777240"/>
          </a:xfrm>
          <a:prstGeom prst="roundRect">
            <a:avLst/>
          </a:prstGeom>
          <a:solidFill>
            <a:srgbClr val="97BC62"/>
          </a:solidFill>
          <a:ln/>
        </p:spPr>
      </p:sp>
      <p:sp>
        <p:nvSpPr>
          <p:cNvPr id="15" name="Text 13"/>
          <p:cNvSpPr/>
          <p:nvPr/>
        </p:nvSpPr>
        <p:spPr>
          <a:xfrm>
            <a:off x="822960" y="5559552"/>
            <a:ext cx="630936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Connected components</a:t>
            </a:r>
            <a:endParaRPr lang="en-US" sz="1300" dirty="0"/>
          </a:p>
        </p:txBody>
      </p:sp>
      <p:sp>
        <p:nvSpPr>
          <p:cNvPr id="16" name="Text 14"/>
          <p:cNvSpPr/>
          <p:nvPr/>
        </p:nvSpPr>
        <p:spPr>
          <a:xfrm>
            <a:off x="822960" y="5897880"/>
            <a:ext cx="6309360" cy="502920"/>
          </a:xfrm>
          <a:prstGeom prst="rect">
            <a:avLst/>
          </a:prstGeom>
          <a:noFill/>
          <a:ln/>
        </p:spPr>
        <p:txBody>
          <a:bodyPr wrap="square" rtlCol="0" anchor="ctr"/>
          <a:lstStyle/>
          <a:p>
            <a:pPr indent="0" marL="0">
              <a:lnSpc>
                <a:spcPct val="115000"/>
              </a:lnSpc>
              <a:buNone/>
            </a:pPr>
            <a:r>
              <a:rPr lang="en-US" sz="1100" dirty="0">
                <a:solidFill>
                  <a:srgbClr val="F5F5F5"/>
                </a:solidFill>
                <a:latin typeface="Calibri" pitchFamily="34" charset="0"/>
                <a:ea typeface="Calibri" pitchFamily="34" charset="-122"/>
                <a:cs typeface="Calibri" pitchFamily="34" charset="-120"/>
              </a:rPr>
              <a:t>Retrieved context flows automatically into the prompt guiding Granite's response.</a:t>
            </a:r>
            <a:endParaRPr lang="en-US" sz="1100" dirty="0"/>
          </a:p>
        </p:txBody>
      </p:sp>
      <p:sp>
        <p:nvSpPr>
          <p:cNvPr id="17" name="Shape 15"/>
          <p:cNvSpPr/>
          <p:nvPr/>
        </p:nvSpPr>
        <p:spPr>
          <a:xfrm>
            <a:off x="7589520" y="1737360"/>
            <a:ext cx="4023360" cy="4572000"/>
          </a:xfrm>
          <a:prstGeom prst="roundRect">
            <a:avLst>
              <a:gd name="adj" fmla="val 2727"/>
            </a:avLst>
          </a:prstGeom>
          <a:solidFill>
            <a:srgbClr val="3A6E3B"/>
          </a:solidFill>
          <a:ln/>
        </p:spPr>
      </p:sp>
      <p:sp>
        <p:nvSpPr>
          <p:cNvPr id="18" name="Text 16"/>
          <p:cNvSpPr/>
          <p:nvPr/>
        </p:nvSpPr>
        <p:spPr>
          <a:xfrm>
            <a:off x="7818120" y="1828800"/>
            <a:ext cx="914400" cy="914400"/>
          </a:xfrm>
          <a:prstGeom prst="rect">
            <a:avLst/>
          </a:prstGeom>
          <a:noFill/>
          <a:ln/>
        </p:spPr>
        <p:txBody>
          <a:bodyPr wrap="square" rtlCol="0" anchor="ctr"/>
          <a:lstStyle/>
          <a:p>
            <a:pPr indent="0" marL="0">
              <a:buNone/>
            </a:pPr>
            <a:r>
              <a:rPr lang="en-US" sz="6000" b="1" dirty="0">
                <a:solidFill>
                  <a:srgbClr val="97BC62"/>
                </a:solidFill>
                <a:latin typeface="Cambria" pitchFamily="34" charset="0"/>
                <a:ea typeface="Cambria" pitchFamily="34" charset="-122"/>
                <a:cs typeface="Cambria" pitchFamily="34" charset="-120"/>
              </a:rPr>
              <a:t>“</a:t>
            </a:r>
            <a:endParaRPr lang="en-US" sz="6000" dirty="0"/>
          </a:p>
        </p:txBody>
      </p:sp>
      <p:sp>
        <p:nvSpPr>
          <p:cNvPr id="19" name="Text 17"/>
          <p:cNvSpPr/>
          <p:nvPr/>
        </p:nvSpPr>
        <p:spPr>
          <a:xfrm>
            <a:off x="8001000" y="2743200"/>
            <a:ext cx="3429000" cy="3200400"/>
          </a:xfrm>
          <a:prstGeom prst="rect">
            <a:avLst/>
          </a:prstGeom>
          <a:noFill/>
          <a:ln/>
        </p:spPr>
        <p:txBody>
          <a:bodyPr wrap="square" rtlCol="0" anchor="t"/>
          <a:lstStyle/>
          <a:p>
            <a:pPr indent="0" marL="0">
              <a:lnSpc>
                <a:spcPct val="135000"/>
              </a:lnSpc>
              <a:buNone/>
            </a:pPr>
            <a:r>
              <a:rPr lang="en-US" sz="1600" i="1" dirty="0">
                <a:solidFill>
                  <a:srgbClr val="FFFFFF"/>
                </a:solidFill>
                <a:latin typeface="Cambria" pitchFamily="34" charset="0"/>
                <a:ea typeface="Cambria" pitchFamily="34" charset="-122"/>
                <a:cs typeface="Cambria" pitchFamily="34" charset="-120"/>
              </a:rPr>
              <a:t>Agentic AI makes the system proactive, grounded, and farmer-focused — acting like a smart digital agricultural advisor that helps small-scale farmers make informed, timely decisions.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65760"/>
          </a:xfrm>
          <a:prstGeom prst="rect">
            <a:avLst/>
          </a:prstGeom>
          <a:noFill/>
          <a:ln/>
        </p:spPr>
        <p:txBody>
          <a:bodyPr wrap="square" rtlCol="0" anchor="ctr"/>
          <a:lstStyle/>
          <a:p>
            <a:pPr indent="0" marL="0">
              <a:buNone/>
            </a:pPr>
            <a:r>
              <a:rPr lang="en-US" sz="1300" b="1" spc="200" kern="0" dirty="0">
                <a:solidFill>
                  <a:srgbClr val="97BC62"/>
                </a:solidFill>
                <a:latin typeface="Calibri" pitchFamily="34" charset="0"/>
                <a:ea typeface="Calibri" pitchFamily="34" charset="-122"/>
                <a:cs typeface="Calibri" pitchFamily="34" charset="-120"/>
              </a:rPr>
              <a:t>07  —  WHAT SETS THIS APART</a:t>
            </a:r>
            <a:endParaRPr lang="en-US" sz="1300" dirty="0"/>
          </a:p>
        </p:txBody>
      </p:sp>
      <p:sp>
        <p:nvSpPr>
          <p:cNvPr id="3" name="Text 1"/>
          <p:cNvSpPr/>
          <p:nvPr/>
        </p:nvSpPr>
        <p:spPr>
          <a:xfrm>
            <a:off x="548640" y="640080"/>
            <a:ext cx="11064240" cy="822960"/>
          </a:xfrm>
          <a:prstGeom prst="rect">
            <a:avLst/>
          </a:prstGeom>
          <a:noFill/>
          <a:ln/>
        </p:spPr>
        <p:txBody>
          <a:bodyPr wrap="square" rtlCol="0" anchor="ctr"/>
          <a:lstStyle/>
          <a:p>
            <a:pPr indent="0" marL="0">
              <a:buNone/>
            </a:pPr>
            <a:r>
              <a:rPr lang="en-US" sz="3200" b="1" dirty="0">
                <a:solidFill>
                  <a:srgbClr val="2C5F2D"/>
                </a:solidFill>
                <a:latin typeface="Cambria" pitchFamily="34" charset="0"/>
                <a:ea typeface="Cambria" pitchFamily="34" charset="-122"/>
                <a:cs typeface="Cambria" pitchFamily="34" charset="-120"/>
              </a:rPr>
              <a:t>Novelty and Uniqueness</a:t>
            </a:r>
            <a:endParaRPr lang="en-US" sz="3200" dirty="0"/>
          </a:p>
        </p:txBody>
      </p:sp>
      <p:sp>
        <p:nvSpPr>
          <p:cNvPr id="4" name="Text 2"/>
          <p:cNvSpPr/>
          <p:nvPr/>
        </p:nvSpPr>
        <p:spPr>
          <a:xfrm>
            <a:off x="548640" y="1554480"/>
            <a:ext cx="11064240" cy="457200"/>
          </a:xfrm>
          <a:prstGeom prst="rect">
            <a:avLst/>
          </a:prstGeom>
          <a:noFill/>
          <a:ln/>
        </p:spPr>
        <p:txBody>
          <a:bodyPr wrap="square" rtlCol="0" anchor="ctr"/>
          <a:lstStyle/>
          <a:p>
            <a:pPr indent="0" marL="0">
              <a:buNone/>
            </a:pPr>
            <a:r>
              <a:rPr lang="en-US" sz="1350" i="1" dirty="0">
                <a:solidFill>
                  <a:srgbClr val="5A6B5A"/>
                </a:solidFill>
                <a:latin typeface="Calibri" pitchFamily="34" charset="0"/>
                <a:ea typeface="Calibri" pitchFamily="34" charset="-122"/>
                <a:cs typeface="Calibri" pitchFamily="34" charset="-120"/>
              </a:rPr>
              <a:t>Farmer Assist stands out by combining Agentic RAG, multilingual support, and season-aware reasoning into a single trustworthy system.</a:t>
            </a:r>
            <a:endParaRPr lang="en-US" sz="1350" dirty="0"/>
          </a:p>
        </p:txBody>
      </p:sp>
      <p:sp>
        <p:nvSpPr>
          <p:cNvPr id="5" name="Shape 3"/>
          <p:cNvSpPr/>
          <p:nvPr/>
        </p:nvSpPr>
        <p:spPr>
          <a:xfrm>
            <a:off x="548640" y="2148840"/>
            <a:ext cx="3520440" cy="1188720"/>
          </a:xfrm>
          <a:prstGeom prst="roundRect">
            <a:avLst>
              <a:gd name="adj" fmla="val 7692"/>
            </a:avLst>
          </a:prstGeom>
          <a:solidFill>
            <a:srgbClr val="F5F5F5"/>
          </a:solidFill>
          <a:ln/>
        </p:spPr>
      </p:sp>
      <p:sp>
        <p:nvSpPr>
          <p:cNvPr id="6" name="Text 4"/>
          <p:cNvSpPr/>
          <p:nvPr/>
        </p:nvSpPr>
        <p:spPr>
          <a:xfrm>
            <a:off x="749808" y="2276856"/>
            <a:ext cx="3108960" cy="502920"/>
          </a:xfrm>
          <a:prstGeom prst="rect">
            <a:avLst/>
          </a:prstGeom>
          <a:noFill/>
          <a:ln/>
        </p:spPr>
        <p:txBody>
          <a:bodyPr wrap="square"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Anti-Hallucination Design</a:t>
            </a:r>
            <a:endParaRPr lang="en-US" sz="1300" dirty="0"/>
          </a:p>
        </p:txBody>
      </p:sp>
      <p:sp>
        <p:nvSpPr>
          <p:cNvPr id="7" name="Text 5"/>
          <p:cNvSpPr/>
          <p:nvPr/>
        </p:nvSpPr>
        <p:spPr>
          <a:xfrm>
            <a:off x="749808" y="2752344"/>
            <a:ext cx="3108960" cy="530352"/>
          </a:xfrm>
          <a:prstGeom prst="rect">
            <a:avLst/>
          </a:prstGeom>
          <a:noFill/>
          <a:ln/>
        </p:spPr>
        <p:txBody>
          <a:bodyPr wrap="square" rtlCol="0" anchor="ctr"/>
          <a:lstStyle/>
          <a:p>
            <a:pPr indent="0" marL="0">
              <a:lnSpc>
                <a:spcPct val="110000"/>
              </a:lnSpc>
              <a:buNone/>
            </a:pPr>
            <a:r>
              <a:rPr lang="en-US" sz="1050" dirty="0">
                <a:solidFill>
                  <a:srgbClr val="5A6B5A"/>
                </a:solidFill>
                <a:latin typeface="Calibri" pitchFamily="34" charset="0"/>
                <a:ea typeface="Calibri" pitchFamily="34" charset="-122"/>
                <a:cs typeface="Calibri" pitchFamily="34" charset="-120"/>
              </a:rPr>
              <a:t>Honestly declines to answer rather than fabricate information.</a:t>
            </a:r>
            <a:endParaRPr lang="en-US" sz="1050" dirty="0"/>
          </a:p>
        </p:txBody>
      </p:sp>
      <p:sp>
        <p:nvSpPr>
          <p:cNvPr id="8" name="Shape 6"/>
          <p:cNvSpPr/>
          <p:nvPr/>
        </p:nvSpPr>
        <p:spPr>
          <a:xfrm>
            <a:off x="4233672" y="2148840"/>
            <a:ext cx="3520440" cy="1188720"/>
          </a:xfrm>
          <a:prstGeom prst="roundRect">
            <a:avLst>
              <a:gd name="adj" fmla="val 7692"/>
            </a:avLst>
          </a:prstGeom>
          <a:solidFill>
            <a:srgbClr val="F5F5F5"/>
          </a:solidFill>
          <a:ln/>
        </p:spPr>
      </p:sp>
      <p:sp>
        <p:nvSpPr>
          <p:cNvPr id="9" name="Text 7"/>
          <p:cNvSpPr/>
          <p:nvPr/>
        </p:nvSpPr>
        <p:spPr>
          <a:xfrm>
            <a:off x="4434840" y="2276856"/>
            <a:ext cx="3108960" cy="502920"/>
          </a:xfrm>
          <a:prstGeom prst="rect">
            <a:avLst/>
          </a:prstGeom>
          <a:noFill/>
          <a:ln/>
        </p:spPr>
        <p:txBody>
          <a:bodyPr wrap="square"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Multi-Component Pipeline</a:t>
            </a:r>
            <a:endParaRPr lang="en-US" sz="1300" dirty="0"/>
          </a:p>
        </p:txBody>
      </p:sp>
      <p:sp>
        <p:nvSpPr>
          <p:cNvPr id="10" name="Text 8"/>
          <p:cNvSpPr/>
          <p:nvPr/>
        </p:nvSpPr>
        <p:spPr>
          <a:xfrm>
            <a:off x="4434840" y="2752344"/>
            <a:ext cx="3108960" cy="530352"/>
          </a:xfrm>
          <a:prstGeom prst="rect">
            <a:avLst/>
          </a:prstGeom>
          <a:noFill/>
          <a:ln/>
        </p:spPr>
        <p:txBody>
          <a:bodyPr wrap="square" rtlCol="0" anchor="ctr"/>
          <a:lstStyle/>
          <a:p>
            <a:pPr indent="0" marL="0">
              <a:lnSpc>
                <a:spcPct val="110000"/>
              </a:lnSpc>
              <a:buNone/>
            </a:pPr>
            <a:r>
              <a:rPr lang="en-US" sz="1050" dirty="0">
                <a:solidFill>
                  <a:srgbClr val="5A6B5A"/>
                </a:solidFill>
                <a:latin typeface="Calibri" pitchFamily="34" charset="0"/>
                <a:ea typeface="Calibri" pitchFamily="34" charset="-122"/>
                <a:cs typeface="Calibri" pitchFamily="34" charset="-120"/>
              </a:rPr>
              <a:t>Dedicated components for loading, chunking, embedding, and retrieval.</a:t>
            </a:r>
            <a:endParaRPr lang="en-US" sz="1050" dirty="0"/>
          </a:p>
        </p:txBody>
      </p:sp>
      <p:sp>
        <p:nvSpPr>
          <p:cNvPr id="11" name="Shape 9"/>
          <p:cNvSpPr/>
          <p:nvPr/>
        </p:nvSpPr>
        <p:spPr>
          <a:xfrm>
            <a:off x="7918704" y="2148840"/>
            <a:ext cx="3520440" cy="1188720"/>
          </a:xfrm>
          <a:prstGeom prst="roundRect">
            <a:avLst>
              <a:gd name="adj" fmla="val 7692"/>
            </a:avLst>
          </a:prstGeom>
          <a:solidFill>
            <a:srgbClr val="F5F5F5"/>
          </a:solidFill>
          <a:ln/>
        </p:spPr>
      </p:sp>
      <p:sp>
        <p:nvSpPr>
          <p:cNvPr id="12" name="Text 10"/>
          <p:cNvSpPr/>
          <p:nvPr/>
        </p:nvSpPr>
        <p:spPr>
          <a:xfrm>
            <a:off x="8119872" y="2276856"/>
            <a:ext cx="3108960" cy="502920"/>
          </a:xfrm>
          <a:prstGeom prst="rect">
            <a:avLst/>
          </a:prstGeom>
          <a:noFill/>
          <a:ln/>
        </p:spPr>
        <p:txBody>
          <a:bodyPr wrap="square"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Comprehensive Knowledge Base</a:t>
            </a:r>
            <a:endParaRPr lang="en-US" sz="1300" dirty="0"/>
          </a:p>
        </p:txBody>
      </p:sp>
      <p:sp>
        <p:nvSpPr>
          <p:cNvPr id="13" name="Text 11"/>
          <p:cNvSpPr/>
          <p:nvPr/>
        </p:nvSpPr>
        <p:spPr>
          <a:xfrm>
            <a:off x="8119872" y="2752344"/>
            <a:ext cx="3108960" cy="530352"/>
          </a:xfrm>
          <a:prstGeom prst="rect">
            <a:avLst/>
          </a:prstGeom>
          <a:noFill/>
          <a:ln/>
        </p:spPr>
        <p:txBody>
          <a:bodyPr wrap="square" rtlCol="0" anchor="ctr"/>
          <a:lstStyle/>
          <a:p>
            <a:pPr indent="0" marL="0">
              <a:lnSpc>
                <a:spcPct val="110000"/>
              </a:lnSpc>
              <a:buNone/>
            </a:pPr>
            <a:r>
              <a:rPr lang="en-US" sz="1050" dirty="0">
                <a:solidFill>
                  <a:srgbClr val="5A6B5A"/>
                </a:solidFill>
                <a:latin typeface="Calibri" pitchFamily="34" charset="0"/>
                <a:ea typeface="Calibri" pitchFamily="34" charset="-122"/>
                <a:cs typeface="Calibri" pitchFamily="34" charset="-120"/>
              </a:rPr>
              <a:t>22 crops across soil, pest control, mandi prices, and weather.</a:t>
            </a:r>
            <a:endParaRPr lang="en-US" sz="1050" dirty="0"/>
          </a:p>
        </p:txBody>
      </p:sp>
      <p:sp>
        <p:nvSpPr>
          <p:cNvPr id="14" name="Shape 12"/>
          <p:cNvSpPr/>
          <p:nvPr/>
        </p:nvSpPr>
        <p:spPr>
          <a:xfrm>
            <a:off x="548640" y="3520440"/>
            <a:ext cx="3520440" cy="1188720"/>
          </a:xfrm>
          <a:prstGeom prst="roundRect">
            <a:avLst>
              <a:gd name="adj" fmla="val 7692"/>
            </a:avLst>
          </a:prstGeom>
          <a:solidFill>
            <a:srgbClr val="F5F5F5"/>
          </a:solidFill>
          <a:ln/>
        </p:spPr>
      </p:sp>
      <p:sp>
        <p:nvSpPr>
          <p:cNvPr id="15" name="Text 13"/>
          <p:cNvSpPr/>
          <p:nvPr/>
        </p:nvSpPr>
        <p:spPr>
          <a:xfrm>
            <a:off x="749808" y="3648456"/>
            <a:ext cx="3108960" cy="502920"/>
          </a:xfrm>
          <a:prstGeom prst="rect">
            <a:avLst/>
          </a:prstGeom>
          <a:noFill/>
          <a:ln/>
        </p:spPr>
        <p:txBody>
          <a:bodyPr wrap="square"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Real-Time Retrieval Accuracy</a:t>
            </a:r>
            <a:endParaRPr lang="en-US" sz="1300" dirty="0"/>
          </a:p>
        </p:txBody>
      </p:sp>
      <p:sp>
        <p:nvSpPr>
          <p:cNvPr id="16" name="Text 14"/>
          <p:cNvSpPr/>
          <p:nvPr/>
        </p:nvSpPr>
        <p:spPr>
          <a:xfrm>
            <a:off x="749808" y="4123944"/>
            <a:ext cx="3108960" cy="530352"/>
          </a:xfrm>
          <a:prstGeom prst="rect">
            <a:avLst/>
          </a:prstGeom>
          <a:noFill/>
          <a:ln/>
        </p:spPr>
        <p:txBody>
          <a:bodyPr wrap="square" rtlCol="0" anchor="ctr"/>
          <a:lstStyle/>
          <a:p>
            <a:pPr indent="0" marL="0">
              <a:lnSpc>
                <a:spcPct val="110000"/>
              </a:lnSpc>
              <a:buNone/>
            </a:pPr>
            <a:r>
              <a:rPr lang="en-US" sz="1050" dirty="0">
                <a:solidFill>
                  <a:srgbClr val="5A6B5A"/>
                </a:solidFill>
                <a:latin typeface="Calibri" pitchFamily="34" charset="0"/>
                <a:ea typeface="Calibri" pitchFamily="34" charset="-122"/>
                <a:cs typeface="Calibri" pitchFamily="34" charset="-120"/>
              </a:rPr>
              <a:t>FAISS vector index fetches the most relevant chunks at query time.</a:t>
            </a:r>
            <a:endParaRPr lang="en-US" sz="1050" dirty="0"/>
          </a:p>
        </p:txBody>
      </p:sp>
      <p:sp>
        <p:nvSpPr>
          <p:cNvPr id="17" name="Shape 15"/>
          <p:cNvSpPr/>
          <p:nvPr/>
        </p:nvSpPr>
        <p:spPr>
          <a:xfrm>
            <a:off x="4233672" y="3520440"/>
            <a:ext cx="3520440" cy="1188720"/>
          </a:xfrm>
          <a:prstGeom prst="roundRect">
            <a:avLst>
              <a:gd name="adj" fmla="val 7692"/>
            </a:avLst>
          </a:prstGeom>
          <a:solidFill>
            <a:srgbClr val="F5F5F5"/>
          </a:solidFill>
          <a:ln/>
        </p:spPr>
      </p:sp>
      <p:sp>
        <p:nvSpPr>
          <p:cNvPr id="18" name="Text 16"/>
          <p:cNvSpPr/>
          <p:nvPr/>
        </p:nvSpPr>
        <p:spPr>
          <a:xfrm>
            <a:off x="4434840" y="3648456"/>
            <a:ext cx="3108960" cy="502920"/>
          </a:xfrm>
          <a:prstGeom prst="rect">
            <a:avLst/>
          </a:prstGeom>
          <a:noFill/>
          <a:ln/>
        </p:spPr>
        <p:txBody>
          <a:bodyPr wrap="square"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Season-Aware Reasoning</a:t>
            </a:r>
            <a:endParaRPr lang="en-US" sz="1300" dirty="0"/>
          </a:p>
        </p:txBody>
      </p:sp>
      <p:sp>
        <p:nvSpPr>
          <p:cNvPr id="19" name="Text 17"/>
          <p:cNvSpPr/>
          <p:nvPr/>
        </p:nvSpPr>
        <p:spPr>
          <a:xfrm>
            <a:off x="4434840" y="4123944"/>
            <a:ext cx="3108960" cy="530352"/>
          </a:xfrm>
          <a:prstGeom prst="rect">
            <a:avLst/>
          </a:prstGeom>
          <a:noFill/>
          <a:ln/>
        </p:spPr>
        <p:txBody>
          <a:bodyPr wrap="square" rtlCol="0" anchor="ctr"/>
          <a:lstStyle/>
          <a:p>
            <a:pPr indent="0" marL="0">
              <a:lnSpc>
                <a:spcPct val="110000"/>
              </a:lnSpc>
              <a:buNone/>
            </a:pPr>
            <a:r>
              <a:rPr lang="en-US" sz="1050" dirty="0">
                <a:solidFill>
                  <a:srgbClr val="5A6B5A"/>
                </a:solidFill>
                <a:latin typeface="Calibri" pitchFamily="34" charset="0"/>
                <a:ea typeface="Calibri" pitchFamily="34" charset="-122"/>
                <a:cs typeface="Calibri" pitchFamily="34" charset="-120"/>
              </a:rPr>
              <a:t>Recognizes Kharif, Rabi, and Zaid cropping seasons correctly.</a:t>
            </a:r>
            <a:endParaRPr lang="en-US" sz="1050" dirty="0"/>
          </a:p>
        </p:txBody>
      </p:sp>
      <p:sp>
        <p:nvSpPr>
          <p:cNvPr id="20" name="Shape 18"/>
          <p:cNvSpPr/>
          <p:nvPr/>
        </p:nvSpPr>
        <p:spPr>
          <a:xfrm>
            <a:off x="7918704" y="3520440"/>
            <a:ext cx="3520440" cy="1188720"/>
          </a:xfrm>
          <a:prstGeom prst="roundRect">
            <a:avLst>
              <a:gd name="adj" fmla="val 7692"/>
            </a:avLst>
          </a:prstGeom>
          <a:solidFill>
            <a:srgbClr val="F5F5F5"/>
          </a:solidFill>
          <a:ln/>
        </p:spPr>
      </p:sp>
      <p:sp>
        <p:nvSpPr>
          <p:cNvPr id="21" name="Text 19"/>
          <p:cNvSpPr/>
          <p:nvPr/>
        </p:nvSpPr>
        <p:spPr>
          <a:xfrm>
            <a:off x="8119872" y="3648456"/>
            <a:ext cx="3108960" cy="502920"/>
          </a:xfrm>
          <a:prstGeom prst="rect">
            <a:avLst/>
          </a:prstGeom>
          <a:noFill/>
          <a:ln/>
        </p:spPr>
        <p:txBody>
          <a:bodyPr wrap="square"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Multilingual Interaction</a:t>
            </a:r>
            <a:endParaRPr lang="en-US" sz="1300" dirty="0"/>
          </a:p>
        </p:txBody>
      </p:sp>
      <p:sp>
        <p:nvSpPr>
          <p:cNvPr id="22" name="Text 20"/>
          <p:cNvSpPr/>
          <p:nvPr/>
        </p:nvSpPr>
        <p:spPr>
          <a:xfrm>
            <a:off x="8119872" y="4123944"/>
            <a:ext cx="3108960" cy="530352"/>
          </a:xfrm>
          <a:prstGeom prst="rect">
            <a:avLst/>
          </a:prstGeom>
          <a:noFill/>
          <a:ln/>
        </p:spPr>
        <p:txBody>
          <a:bodyPr wrap="square" rtlCol="0" anchor="ctr"/>
          <a:lstStyle/>
          <a:p>
            <a:pPr indent="0" marL="0">
              <a:lnSpc>
                <a:spcPct val="110000"/>
              </a:lnSpc>
              <a:buNone/>
            </a:pPr>
            <a:r>
              <a:rPr lang="en-US" sz="1050" dirty="0">
                <a:solidFill>
                  <a:srgbClr val="5A6B5A"/>
                </a:solidFill>
                <a:latin typeface="Calibri" pitchFamily="34" charset="0"/>
                <a:ea typeface="Calibri" pitchFamily="34" charset="-122"/>
                <a:cs typeface="Calibri" pitchFamily="34" charset="-120"/>
              </a:rPr>
              <a:t>Supports English, Tamil, and Hindi queries.</a:t>
            </a:r>
            <a:endParaRPr lang="en-US" sz="1050" dirty="0"/>
          </a:p>
        </p:txBody>
      </p:sp>
      <p:sp>
        <p:nvSpPr>
          <p:cNvPr id="23" name="Shape 21"/>
          <p:cNvSpPr/>
          <p:nvPr/>
        </p:nvSpPr>
        <p:spPr>
          <a:xfrm>
            <a:off x="548640" y="4892040"/>
            <a:ext cx="11064240" cy="1188720"/>
          </a:xfrm>
          <a:prstGeom prst="roundRect">
            <a:avLst>
              <a:gd name="adj" fmla="val 7692"/>
            </a:avLst>
          </a:prstGeom>
          <a:solidFill>
            <a:srgbClr val="97BC62"/>
          </a:solidFill>
          <a:ln/>
        </p:spPr>
      </p:sp>
      <p:sp>
        <p:nvSpPr>
          <p:cNvPr id="24" name="Text 22"/>
          <p:cNvSpPr/>
          <p:nvPr/>
        </p:nvSpPr>
        <p:spPr>
          <a:xfrm>
            <a:off x="777240" y="5029200"/>
            <a:ext cx="4572000" cy="457200"/>
          </a:xfrm>
          <a:prstGeom prst="rect">
            <a:avLst/>
          </a:prstGeom>
          <a:noFill/>
          <a:ln/>
        </p:spPr>
        <p:txBody>
          <a:bodyPr wrap="square" rtlCol="0" anchor="ctr"/>
          <a:lstStyle/>
          <a:p>
            <a:pPr indent="0" marL="0">
              <a:buNone/>
            </a:pPr>
            <a:r>
              <a:rPr lang="en-US" sz="1400" b="1" dirty="0">
                <a:solidFill>
                  <a:srgbClr val="2C5F2D"/>
                </a:solidFill>
                <a:latin typeface="Calibri" pitchFamily="34" charset="0"/>
                <a:ea typeface="Calibri" pitchFamily="34" charset="-122"/>
                <a:cs typeface="Calibri" pitchFamily="34" charset="-120"/>
              </a:rPr>
              <a:t>Scalable &amp; Enterprise-Ready</a:t>
            </a:r>
            <a:endParaRPr lang="en-US" sz="1400" dirty="0"/>
          </a:p>
        </p:txBody>
      </p:sp>
      <p:sp>
        <p:nvSpPr>
          <p:cNvPr id="25" name="Text 23"/>
          <p:cNvSpPr/>
          <p:nvPr/>
        </p:nvSpPr>
        <p:spPr>
          <a:xfrm>
            <a:off x="777240" y="5486400"/>
            <a:ext cx="10607040" cy="502920"/>
          </a:xfrm>
          <a:prstGeom prst="rect">
            <a:avLst/>
          </a:prstGeom>
          <a:noFill/>
          <a:ln/>
        </p:spPr>
        <p:txBody>
          <a:bodyPr wrap="square" rtlCol="0" anchor="ctr"/>
          <a:lstStyle/>
          <a:p>
            <a:pPr indent="0" marL="0">
              <a:buNone/>
            </a:pPr>
            <a:r>
              <a:rPr lang="en-US" sz="1150" dirty="0">
                <a:solidFill>
                  <a:srgbClr val="1F2E1F"/>
                </a:solidFill>
                <a:latin typeface="Calibri" pitchFamily="34" charset="0"/>
                <a:ea typeface="Calibri" pitchFamily="34" charset="-122"/>
                <a:cs typeface="Calibri" pitchFamily="34" charset="-120"/>
              </a:rPr>
              <a:t>Built on IBM watsonx.ai with IBM Granite models.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C5F2D"/>
        </a:solidFill>
      </p:bgPr>
    </p:bg>
    <p:spTree>
      <p:nvGrpSpPr>
        <p:cNvPr id="1" name=""/>
        <p:cNvGrpSpPr/>
        <p:nvPr/>
      </p:nvGrpSpPr>
      <p:grpSpPr>
        <a:xfrm>
          <a:off x="0" y="0"/>
          <a:ext cx="0" cy="0"/>
          <a:chOff x="0" y="0"/>
          <a:chExt cx="0" cy="0"/>
        </a:xfrm>
      </p:grpSpPr>
      <p:sp>
        <p:nvSpPr>
          <p:cNvPr id="2" name="Text 0"/>
          <p:cNvSpPr/>
          <p:nvPr/>
        </p:nvSpPr>
        <p:spPr>
          <a:xfrm>
            <a:off x="548640" y="320040"/>
            <a:ext cx="7315200" cy="365760"/>
          </a:xfrm>
          <a:prstGeom prst="rect">
            <a:avLst/>
          </a:prstGeom>
          <a:noFill/>
          <a:ln/>
        </p:spPr>
        <p:txBody>
          <a:bodyPr wrap="square" rtlCol="0" anchor="ctr"/>
          <a:lstStyle/>
          <a:p>
            <a:pPr indent="0" marL="0">
              <a:buNone/>
            </a:pPr>
            <a:r>
              <a:rPr lang="en-US" sz="1300" b="1" spc="200" kern="0" dirty="0">
                <a:solidFill>
                  <a:srgbClr val="97BC62"/>
                </a:solidFill>
                <a:latin typeface="Calibri" pitchFamily="34" charset="0"/>
                <a:ea typeface="Calibri" pitchFamily="34" charset="-122"/>
                <a:cs typeface="Calibri" pitchFamily="34" charset="-120"/>
              </a:rPr>
              <a:t>08  —  WHAT'S NEXT</a:t>
            </a:r>
            <a:endParaRPr lang="en-US" sz="1300" dirty="0"/>
          </a:p>
        </p:txBody>
      </p:sp>
      <p:sp>
        <p:nvSpPr>
          <p:cNvPr id="3" name="Text 1"/>
          <p:cNvSpPr/>
          <p:nvPr/>
        </p:nvSpPr>
        <p:spPr>
          <a:xfrm>
            <a:off x="548640" y="640080"/>
            <a:ext cx="11064240" cy="8229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Future Scope</a:t>
            </a:r>
            <a:endParaRPr lang="en-US" sz="3200" dirty="0"/>
          </a:p>
        </p:txBody>
      </p:sp>
      <p:sp>
        <p:nvSpPr>
          <p:cNvPr id="4" name="Shape 2"/>
          <p:cNvSpPr/>
          <p:nvPr/>
        </p:nvSpPr>
        <p:spPr>
          <a:xfrm>
            <a:off x="548640" y="1920240"/>
            <a:ext cx="11064240" cy="1874520"/>
          </a:xfrm>
          <a:prstGeom prst="roundRect">
            <a:avLst>
              <a:gd name="adj" fmla="val 5854"/>
            </a:avLst>
          </a:prstGeom>
          <a:solidFill>
            <a:srgbClr val="3A6E3B"/>
          </a:solidFill>
          <a:ln/>
        </p:spPr>
      </p:sp>
      <p:sp>
        <p:nvSpPr>
          <p:cNvPr id="5" name="Shape 3"/>
          <p:cNvSpPr/>
          <p:nvPr/>
        </p:nvSpPr>
        <p:spPr>
          <a:xfrm>
            <a:off x="822960" y="2194560"/>
            <a:ext cx="548640" cy="548640"/>
          </a:xfrm>
          <a:prstGeom prst="roundRect">
            <a:avLst>
              <a:gd name="adj" fmla="val 50000"/>
            </a:avLst>
          </a:prstGeom>
          <a:solidFill>
            <a:srgbClr val="97BC62"/>
          </a:solidFill>
          <a:ln/>
        </p:spPr>
      </p:sp>
      <p:sp>
        <p:nvSpPr>
          <p:cNvPr id="6" name="Text 4"/>
          <p:cNvSpPr/>
          <p:nvPr/>
        </p:nvSpPr>
        <p:spPr>
          <a:xfrm>
            <a:off x="822960" y="2194560"/>
            <a:ext cx="548640" cy="548640"/>
          </a:xfrm>
          <a:prstGeom prst="rect">
            <a:avLst/>
          </a:prstGeom>
          <a:noFill/>
          <a:ln/>
        </p:spPr>
        <p:txBody>
          <a:bodyPr wrap="square" rtlCol="0" anchor="ctr"/>
          <a:lstStyle/>
          <a:p>
            <a:pPr algn="ctr" indent="0" marL="0">
              <a:buNone/>
            </a:pPr>
            <a:r>
              <a:rPr lang="en-US" sz="2000" b="1" dirty="0">
                <a:solidFill>
                  <a:srgbClr val="2C5F2D"/>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600200" y="2121408"/>
            <a:ext cx="9692640" cy="4572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Integration with Live Weather and Market Data Feeds</a:t>
            </a:r>
            <a:endParaRPr lang="en-US" sz="1600" dirty="0"/>
          </a:p>
        </p:txBody>
      </p:sp>
      <p:sp>
        <p:nvSpPr>
          <p:cNvPr id="8" name="Text 6"/>
          <p:cNvSpPr/>
          <p:nvPr/>
        </p:nvSpPr>
        <p:spPr>
          <a:xfrm>
            <a:off x="1600200" y="2606040"/>
            <a:ext cx="9692640" cy="1051560"/>
          </a:xfrm>
          <a:prstGeom prst="rect">
            <a:avLst/>
          </a:prstGeom>
          <a:noFill/>
          <a:ln/>
        </p:spPr>
        <p:txBody>
          <a:bodyPr wrap="square" rtlCol="0" anchor="ctr"/>
          <a:lstStyle/>
          <a:p>
            <a:pPr indent="0" marL="0">
              <a:lnSpc>
                <a:spcPct val="125000"/>
              </a:lnSpc>
              <a:buNone/>
            </a:pPr>
            <a:r>
              <a:rPr lang="en-US" sz="1250" dirty="0">
                <a:solidFill>
                  <a:srgbClr val="F5F5F5"/>
                </a:solidFill>
                <a:latin typeface="Calibri" pitchFamily="34" charset="0"/>
                <a:ea typeface="Calibri" pitchFamily="34" charset="-122"/>
                <a:cs typeface="Calibri" pitchFamily="34" charset="-120"/>
              </a:rPr>
              <a:t>Replace static/sample datasets with live IMD (weather) and Agmarknet (mandi price) API feeds, enabling accurate, real-time recommendations instead of fixed snapshots.</a:t>
            </a:r>
            <a:endParaRPr lang="en-US" sz="1250" dirty="0"/>
          </a:p>
        </p:txBody>
      </p:sp>
      <p:sp>
        <p:nvSpPr>
          <p:cNvPr id="9" name="Shape 7"/>
          <p:cNvSpPr/>
          <p:nvPr/>
        </p:nvSpPr>
        <p:spPr>
          <a:xfrm>
            <a:off x="548640" y="4069080"/>
            <a:ext cx="11064240" cy="1874520"/>
          </a:xfrm>
          <a:prstGeom prst="roundRect">
            <a:avLst>
              <a:gd name="adj" fmla="val 5854"/>
            </a:avLst>
          </a:prstGeom>
          <a:solidFill>
            <a:srgbClr val="3A6E3B"/>
          </a:solidFill>
          <a:ln/>
        </p:spPr>
      </p:sp>
      <p:sp>
        <p:nvSpPr>
          <p:cNvPr id="10" name="Shape 8"/>
          <p:cNvSpPr/>
          <p:nvPr/>
        </p:nvSpPr>
        <p:spPr>
          <a:xfrm>
            <a:off x="822960" y="4343400"/>
            <a:ext cx="548640" cy="548640"/>
          </a:xfrm>
          <a:prstGeom prst="roundRect">
            <a:avLst>
              <a:gd name="adj" fmla="val 50000"/>
            </a:avLst>
          </a:prstGeom>
          <a:solidFill>
            <a:srgbClr val="97BC62"/>
          </a:solidFill>
          <a:ln/>
        </p:spPr>
      </p:sp>
      <p:sp>
        <p:nvSpPr>
          <p:cNvPr id="11" name="Text 9"/>
          <p:cNvSpPr/>
          <p:nvPr/>
        </p:nvSpPr>
        <p:spPr>
          <a:xfrm>
            <a:off x="822960" y="4343400"/>
            <a:ext cx="548640" cy="548640"/>
          </a:xfrm>
          <a:prstGeom prst="rect">
            <a:avLst/>
          </a:prstGeom>
          <a:noFill/>
          <a:ln/>
        </p:spPr>
        <p:txBody>
          <a:bodyPr wrap="square" rtlCol="0" anchor="ctr"/>
          <a:lstStyle/>
          <a:p>
            <a:pPr algn="ctr" indent="0" marL="0">
              <a:buNone/>
            </a:pPr>
            <a:r>
              <a:rPr lang="en-US" sz="2000" b="1" dirty="0">
                <a:solidFill>
                  <a:srgbClr val="2C5F2D"/>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1600200" y="4270248"/>
            <a:ext cx="9692640" cy="4572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AI-Powered Voice Assistant &amp; Wider Multilingual Support</a:t>
            </a:r>
            <a:endParaRPr lang="en-US" sz="1600" dirty="0"/>
          </a:p>
        </p:txBody>
      </p:sp>
      <p:sp>
        <p:nvSpPr>
          <p:cNvPr id="13" name="Text 11"/>
          <p:cNvSpPr/>
          <p:nvPr/>
        </p:nvSpPr>
        <p:spPr>
          <a:xfrm>
            <a:off x="1600200" y="4754880"/>
            <a:ext cx="9692640" cy="1051560"/>
          </a:xfrm>
          <a:prstGeom prst="rect">
            <a:avLst/>
          </a:prstGeom>
          <a:noFill/>
          <a:ln/>
        </p:spPr>
        <p:txBody>
          <a:bodyPr wrap="square" rtlCol="0" anchor="ctr"/>
          <a:lstStyle/>
          <a:p>
            <a:pPr indent="0" marL="0">
              <a:lnSpc>
                <a:spcPct val="125000"/>
              </a:lnSpc>
              <a:buNone/>
            </a:pPr>
            <a:r>
              <a:rPr lang="en-US" sz="1250" dirty="0">
                <a:solidFill>
                  <a:srgbClr val="F5F5F5"/>
                </a:solidFill>
                <a:latin typeface="Calibri" pitchFamily="34" charset="0"/>
                <a:ea typeface="Calibri" pitchFamily="34" charset="-122"/>
                <a:cs typeface="Calibri" pitchFamily="34" charset="-120"/>
              </a:rPr>
              <a:t>Add a voice-enabled assistant and support for more regional languages, so low-literacy farmers can speak questions and hear answers naturally.</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C5F2D"/>
        </a:solidFill>
      </p:bgPr>
    </p:bg>
    <p:spTree>
      <p:nvGrpSpPr>
        <p:cNvPr id="1" name=""/>
        <p:cNvGrpSpPr/>
        <p:nvPr/>
      </p:nvGrpSpPr>
      <p:grpSpPr>
        <a:xfrm>
          <a:off x="0" y="0"/>
          <a:ext cx="0" cy="0"/>
          <a:chOff x="0" y="0"/>
          <a:chExt cx="0" cy="0"/>
        </a:xfrm>
      </p:grpSpPr>
      <p:sp>
        <p:nvSpPr>
          <p:cNvPr id="2" name="Shape 0"/>
          <p:cNvSpPr/>
          <p:nvPr/>
        </p:nvSpPr>
        <p:spPr>
          <a:xfrm>
            <a:off x="5074920" y="2377440"/>
            <a:ext cx="2011680" cy="2011680"/>
          </a:xfrm>
          <a:prstGeom prst="roundRect">
            <a:avLst>
              <a:gd name="adj" fmla="val 50000"/>
            </a:avLst>
          </a:prstGeom>
          <a:solidFill>
            <a:srgbClr val="97BC62"/>
          </a:solidFill>
          <a:ln/>
        </p:spPr>
      </p:sp>
      <p:sp>
        <p:nvSpPr>
          <p:cNvPr id="3" name="Text 1"/>
          <p:cNvSpPr/>
          <p:nvPr/>
        </p:nvSpPr>
        <p:spPr>
          <a:xfrm>
            <a:off x="5074920" y="2377440"/>
            <a:ext cx="2011680" cy="2011680"/>
          </a:xfrm>
          <a:prstGeom prst="rect">
            <a:avLst/>
          </a:prstGeom>
          <a:noFill/>
          <a:ln/>
        </p:spPr>
        <p:txBody>
          <a:bodyPr wrap="square" rtlCol="0" anchor="ctr"/>
          <a:lstStyle/>
          <a:p>
            <a:pPr algn="ctr" indent="0" marL="0">
              <a:buNone/>
            </a:pPr>
            <a:r>
              <a:rPr lang="en-US" sz="4400" b="1" dirty="0">
                <a:solidFill>
                  <a:srgbClr val="2C5F2D"/>
                </a:solidFill>
                <a:latin typeface="Cambria" pitchFamily="34" charset="0"/>
                <a:ea typeface="Cambria" pitchFamily="34" charset="-122"/>
                <a:cs typeface="Cambria" pitchFamily="34" charset="-120"/>
              </a:rPr>
              <a:t>FA</a:t>
            </a:r>
            <a:endParaRPr lang="en-US" sz="4400" dirty="0"/>
          </a:p>
        </p:txBody>
      </p:sp>
      <p:sp>
        <p:nvSpPr>
          <p:cNvPr id="4" name="Text 2"/>
          <p:cNvSpPr/>
          <p:nvPr/>
        </p:nvSpPr>
        <p:spPr>
          <a:xfrm>
            <a:off x="548640" y="4617720"/>
            <a:ext cx="11064240" cy="731520"/>
          </a:xfrm>
          <a:prstGeom prst="rect">
            <a:avLst/>
          </a:prstGeom>
          <a:noFill/>
          <a:ln/>
        </p:spPr>
        <p:txBody>
          <a:bodyPr wrap="square"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Thank You</a:t>
            </a:r>
            <a:endParaRPr lang="en-US" sz="3400" dirty="0"/>
          </a:p>
        </p:txBody>
      </p:sp>
      <p:sp>
        <p:nvSpPr>
          <p:cNvPr id="5" name="Text 3"/>
          <p:cNvSpPr/>
          <p:nvPr/>
        </p:nvSpPr>
        <p:spPr>
          <a:xfrm>
            <a:off x="548640" y="5303520"/>
            <a:ext cx="11064240" cy="457200"/>
          </a:xfrm>
          <a:prstGeom prst="rect">
            <a:avLst/>
          </a:prstGeom>
          <a:noFill/>
          <a:ln/>
        </p:spPr>
        <p:txBody>
          <a:bodyPr wrap="square" rtlCol="0" anchor="ctr"/>
          <a:lstStyle/>
          <a:p>
            <a:pPr algn="ctr" indent="0" marL="0">
              <a:buNone/>
            </a:pPr>
            <a:r>
              <a:rPr lang="en-US" sz="1400" i="1" dirty="0">
                <a:solidFill>
                  <a:srgbClr val="97BC62"/>
                </a:solidFill>
                <a:latin typeface="Calibri" pitchFamily="34" charset="0"/>
                <a:ea typeface="Calibri" pitchFamily="34" charset="-122"/>
                <a:cs typeface="Calibri" pitchFamily="34" charset="-120"/>
              </a:rPr>
              <a:t>Farmer Assist — Bringing grounded, multilingual AI guidance to every farmer's fingertips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2026-07-12T18:04:14Z</dcterms:created>
  <dcterms:modified xsi:type="dcterms:W3CDTF">2026-07-12T18:04:14Z</dcterms:modified>
</cp:coreProperties>
</file>